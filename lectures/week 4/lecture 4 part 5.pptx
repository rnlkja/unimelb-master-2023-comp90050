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5"/>
  </p:notesMasterIdLst>
  <p:handoutMasterIdLst>
    <p:handoutMasterId r:id="rId36"/>
  </p:handoutMasterIdLst>
  <p:sldIdLst>
    <p:sldId id="256" r:id="rId2"/>
    <p:sldId id="1732" r:id="rId3"/>
    <p:sldId id="1733" r:id="rId4"/>
    <p:sldId id="1734" r:id="rId5"/>
    <p:sldId id="304" r:id="rId6"/>
    <p:sldId id="325" r:id="rId7"/>
    <p:sldId id="326" r:id="rId8"/>
    <p:sldId id="318" r:id="rId9"/>
    <p:sldId id="319" r:id="rId10"/>
    <p:sldId id="320" r:id="rId11"/>
    <p:sldId id="322" r:id="rId12"/>
    <p:sldId id="323" r:id="rId13"/>
    <p:sldId id="324" r:id="rId14"/>
    <p:sldId id="328" r:id="rId15"/>
    <p:sldId id="286" r:id="rId16"/>
    <p:sldId id="287" r:id="rId17"/>
    <p:sldId id="296" r:id="rId18"/>
    <p:sldId id="305" r:id="rId19"/>
    <p:sldId id="1740" r:id="rId20"/>
    <p:sldId id="1741" r:id="rId21"/>
    <p:sldId id="1735" r:id="rId22"/>
    <p:sldId id="306" r:id="rId23"/>
    <p:sldId id="308" r:id="rId24"/>
    <p:sldId id="1743" r:id="rId25"/>
    <p:sldId id="1744" r:id="rId26"/>
    <p:sldId id="1746" r:id="rId27"/>
    <p:sldId id="1745" r:id="rId28"/>
    <p:sldId id="1747" r:id="rId29"/>
    <p:sldId id="1748" r:id="rId30"/>
    <p:sldId id="1749" r:id="rId31"/>
    <p:sldId id="1750" r:id="rId32"/>
    <p:sldId id="1756" r:id="rId33"/>
    <p:sldId id="1757" r:id="rId3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2906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801"/>
    <p:restoredTop sz="94674"/>
  </p:normalViewPr>
  <p:slideViewPr>
    <p:cSldViewPr>
      <p:cViewPr varScale="1">
        <p:scale>
          <a:sx n="102" d="100"/>
          <a:sy n="102" d="100"/>
        </p:scale>
        <p:origin x="1624" y="1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rhana Choudhury" userId="8bfadc28-a633-41a8-aacf-e9b58948d589" providerId="ADAL" clId="{6E69A26C-440A-A942-924E-E9B602FB77D7}"/>
    <pc:docChg chg="custSel modSld">
      <pc:chgData name="Farhana Choudhury" userId="8bfadc28-a633-41a8-aacf-e9b58948d589" providerId="ADAL" clId="{6E69A26C-440A-A942-924E-E9B602FB77D7}" dt="2022-07-13T01:34:35.700" v="9" actId="478"/>
      <pc:docMkLst>
        <pc:docMk/>
      </pc:docMkLst>
      <pc:sldChg chg="delSp mod">
        <pc:chgData name="Farhana Choudhury" userId="8bfadc28-a633-41a8-aacf-e9b58948d589" providerId="ADAL" clId="{6E69A26C-440A-A942-924E-E9B602FB77D7}" dt="2022-07-13T01:34:11.846" v="2" actId="478"/>
        <pc:sldMkLst>
          <pc:docMk/>
          <pc:sldMk cId="1095922681" sldId="305"/>
        </pc:sldMkLst>
        <pc:inkChg chg="del">
          <ac:chgData name="Farhana Choudhury" userId="8bfadc28-a633-41a8-aacf-e9b58948d589" providerId="ADAL" clId="{6E69A26C-440A-A942-924E-E9B602FB77D7}" dt="2022-07-13T01:34:11.846" v="2" actId="478"/>
          <ac:inkMkLst>
            <pc:docMk/>
            <pc:sldMk cId="1095922681" sldId="305"/>
            <ac:inkMk id="4" creationId="{76B4F9D9-B37D-C545-9097-769B9C076130}"/>
          </ac:inkMkLst>
        </pc:inkChg>
      </pc:sldChg>
      <pc:sldChg chg="delSp mod">
        <pc:chgData name="Farhana Choudhury" userId="8bfadc28-a633-41a8-aacf-e9b58948d589" providerId="ADAL" clId="{6E69A26C-440A-A942-924E-E9B602FB77D7}" dt="2022-07-13T01:34:25" v="6" actId="478"/>
        <pc:sldMkLst>
          <pc:docMk/>
          <pc:sldMk cId="1729897961" sldId="306"/>
        </pc:sldMkLst>
        <pc:inkChg chg="del">
          <ac:chgData name="Farhana Choudhury" userId="8bfadc28-a633-41a8-aacf-e9b58948d589" providerId="ADAL" clId="{6E69A26C-440A-A942-924E-E9B602FB77D7}" dt="2022-07-13T01:34:22.948" v="5" actId="478"/>
          <ac:inkMkLst>
            <pc:docMk/>
            <pc:sldMk cId="1729897961" sldId="306"/>
            <ac:inkMk id="5" creationId="{ABE24240-6779-5844-BDCA-9A0CA8555AB8}"/>
          </ac:inkMkLst>
        </pc:inkChg>
        <pc:inkChg chg="del">
          <ac:chgData name="Farhana Choudhury" userId="8bfadc28-a633-41a8-aacf-e9b58948d589" providerId="ADAL" clId="{6E69A26C-440A-A942-924E-E9B602FB77D7}" dt="2022-07-13T01:34:25" v="6" actId="478"/>
          <ac:inkMkLst>
            <pc:docMk/>
            <pc:sldMk cId="1729897961" sldId="306"/>
            <ac:inkMk id="6" creationId="{2AEBD5D9-3A74-4941-ABAA-39F12C7F8FF9}"/>
          </ac:inkMkLst>
        </pc:inkChg>
      </pc:sldChg>
      <pc:sldChg chg="delSp mod">
        <pc:chgData name="Farhana Choudhury" userId="8bfadc28-a633-41a8-aacf-e9b58948d589" providerId="ADAL" clId="{6E69A26C-440A-A942-924E-E9B602FB77D7}" dt="2022-07-13T01:34:30.448" v="8" actId="478"/>
        <pc:sldMkLst>
          <pc:docMk/>
          <pc:sldMk cId="511901300" sldId="308"/>
        </pc:sldMkLst>
        <pc:inkChg chg="del">
          <ac:chgData name="Farhana Choudhury" userId="8bfadc28-a633-41a8-aacf-e9b58948d589" providerId="ADAL" clId="{6E69A26C-440A-A942-924E-E9B602FB77D7}" dt="2022-07-13T01:34:28.954" v="7" actId="478"/>
          <ac:inkMkLst>
            <pc:docMk/>
            <pc:sldMk cId="511901300" sldId="308"/>
            <ac:inkMk id="4" creationId="{4D983A09-89BE-EE4A-B9BB-D69EAB93B44D}"/>
          </ac:inkMkLst>
        </pc:inkChg>
        <pc:inkChg chg="del">
          <ac:chgData name="Farhana Choudhury" userId="8bfadc28-a633-41a8-aacf-e9b58948d589" providerId="ADAL" clId="{6E69A26C-440A-A942-924E-E9B602FB77D7}" dt="2022-07-13T01:34:30.448" v="8" actId="478"/>
          <ac:inkMkLst>
            <pc:docMk/>
            <pc:sldMk cId="511901300" sldId="308"/>
            <ac:inkMk id="5" creationId="{76E6B9FE-9882-7942-A9F6-94F0E6358C04}"/>
          </ac:inkMkLst>
        </pc:inkChg>
      </pc:sldChg>
      <pc:sldChg chg="delSp mod">
        <pc:chgData name="Farhana Choudhury" userId="8bfadc28-a633-41a8-aacf-e9b58948d589" providerId="ADAL" clId="{6E69A26C-440A-A942-924E-E9B602FB77D7}" dt="2022-07-13T01:33:59.365" v="0" actId="478"/>
        <pc:sldMkLst>
          <pc:docMk/>
          <pc:sldMk cId="3660720920" sldId="325"/>
        </pc:sldMkLst>
        <pc:inkChg chg="del">
          <ac:chgData name="Farhana Choudhury" userId="8bfadc28-a633-41a8-aacf-e9b58948d589" providerId="ADAL" clId="{6E69A26C-440A-A942-924E-E9B602FB77D7}" dt="2022-07-13T01:33:59.365" v="0" actId="478"/>
          <ac:inkMkLst>
            <pc:docMk/>
            <pc:sldMk cId="3660720920" sldId="325"/>
            <ac:inkMk id="4" creationId="{F82FA07D-C391-8A44-8A11-2F4F36BF7BBA}"/>
          </ac:inkMkLst>
        </pc:inkChg>
      </pc:sldChg>
      <pc:sldChg chg="delSp mod">
        <pc:chgData name="Farhana Choudhury" userId="8bfadc28-a633-41a8-aacf-e9b58948d589" providerId="ADAL" clId="{6E69A26C-440A-A942-924E-E9B602FB77D7}" dt="2022-07-13T01:34:02.881" v="1" actId="478"/>
        <pc:sldMkLst>
          <pc:docMk/>
          <pc:sldMk cId="1635510386" sldId="326"/>
        </pc:sldMkLst>
        <pc:inkChg chg="del">
          <ac:chgData name="Farhana Choudhury" userId="8bfadc28-a633-41a8-aacf-e9b58948d589" providerId="ADAL" clId="{6E69A26C-440A-A942-924E-E9B602FB77D7}" dt="2022-07-13T01:34:02.881" v="1" actId="478"/>
          <ac:inkMkLst>
            <pc:docMk/>
            <pc:sldMk cId="1635510386" sldId="326"/>
            <ac:inkMk id="4" creationId="{5E6B0D9B-C649-9E40-B25A-2622BE1A0106}"/>
          </ac:inkMkLst>
        </pc:inkChg>
      </pc:sldChg>
      <pc:sldChg chg="delSp mod">
        <pc:chgData name="Farhana Choudhury" userId="8bfadc28-a633-41a8-aacf-e9b58948d589" providerId="ADAL" clId="{6E69A26C-440A-A942-924E-E9B602FB77D7}" dt="2022-07-13T01:34:19.339" v="4" actId="478"/>
        <pc:sldMkLst>
          <pc:docMk/>
          <pc:sldMk cId="1365054996" sldId="1735"/>
        </pc:sldMkLst>
        <pc:inkChg chg="del">
          <ac:chgData name="Farhana Choudhury" userId="8bfadc28-a633-41a8-aacf-e9b58948d589" providerId="ADAL" clId="{6E69A26C-440A-A942-924E-E9B602FB77D7}" dt="2022-07-13T01:34:17" v="3" actId="478"/>
          <ac:inkMkLst>
            <pc:docMk/>
            <pc:sldMk cId="1365054996" sldId="1735"/>
            <ac:inkMk id="4" creationId="{D9FA699F-BF23-3542-8864-04D7B02288F5}"/>
          </ac:inkMkLst>
        </pc:inkChg>
        <pc:inkChg chg="del">
          <ac:chgData name="Farhana Choudhury" userId="8bfadc28-a633-41a8-aacf-e9b58948d589" providerId="ADAL" clId="{6E69A26C-440A-A942-924E-E9B602FB77D7}" dt="2022-07-13T01:34:19.339" v="4" actId="478"/>
          <ac:inkMkLst>
            <pc:docMk/>
            <pc:sldMk cId="1365054996" sldId="1735"/>
            <ac:inkMk id="5" creationId="{CC0C31A4-4D68-1140-BC17-55187EDF7A0B}"/>
          </ac:inkMkLst>
        </pc:inkChg>
      </pc:sldChg>
      <pc:sldChg chg="delSp mod">
        <pc:chgData name="Farhana Choudhury" userId="8bfadc28-a633-41a8-aacf-e9b58948d589" providerId="ADAL" clId="{6E69A26C-440A-A942-924E-E9B602FB77D7}" dt="2022-07-13T01:34:35.700" v="9" actId="478"/>
        <pc:sldMkLst>
          <pc:docMk/>
          <pc:sldMk cId="1297164581" sldId="1744"/>
        </pc:sldMkLst>
        <pc:inkChg chg="del">
          <ac:chgData name="Farhana Choudhury" userId="8bfadc28-a633-41a8-aacf-e9b58948d589" providerId="ADAL" clId="{6E69A26C-440A-A942-924E-E9B602FB77D7}" dt="2022-07-13T01:34:35.700" v="9" actId="478"/>
          <ac:inkMkLst>
            <pc:docMk/>
            <pc:sldMk cId="1297164581" sldId="1744"/>
            <ac:inkMk id="4" creationId="{57053C64-54C3-F047-A742-81476BEECECD}"/>
          </ac:inkMkLst>
        </pc:ink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B6CA34-8411-407E-893D-8E71990DC10C}" type="datetimeFigureOut">
              <a:rPr lang="en-US" smtClean="0"/>
              <a:pPr/>
              <a:t>6/25/23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4777B9-B548-4935-8E6D-F45127D461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272576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C7C770-57F1-4183-B1B5-424B207D1741}" type="datetimeFigureOut">
              <a:rPr lang="en-US" smtClean="0"/>
              <a:pPr/>
              <a:t>6/25/23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A4ED4D-EFD9-46AD-897E-D5BE4B53CB4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023883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A4ED4D-EFD9-46AD-897E-D5BE4B53CB4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2975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ACFB50-42D6-B240-B801-3F9B7FDC646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1364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ACFB50-42D6-B240-B801-3F9B7FDC646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0935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ACFB50-42D6-B240-B801-3F9B7FDC646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1736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ACFB50-42D6-B240-B801-3F9B7FDC646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0110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ACFB50-42D6-B240-B801-3F9B7FDC6464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8695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ACFB50-42D6-B240-B801-3F9B7FDC6464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8385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ACFB50-42D6-B240-B801-3F9B7FDC6464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8193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B007E-8C7F-4E2E-BC7B-2A3A1679722A}" type="datetime1">
              <a:rPr lang="en-US" smtClean="0"/>
              <a:pPr/>
              <a:t>6/25/23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A4BC5-AE2A-401E-9EDD-DF8812A14A6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93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CFE0C-32D0-48F6-B754-86DDD932679A}" type="datetime1">
              <a:rPr lang="en-US" smtClean="0"/>
              <a:pPr/>
              <a:t>6/25/23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A4BC5-AE2A-401E-9EDD-DF8812A14A6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3899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5F951-6F0A-4BC8-8E78-042EB20EDAB0}" type="datetime1">
              <a:rPr lang="en-US" smtClean="0"/>
              <a:pPr/>
              <a:t>6/25/23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A4BC5-AE2A-401E-9EDD-DF8812A14A6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539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627F7-2F2A-48BC-9DFD-9A2600CFA556}" type="datetime1">
              <a:rPr lang="en-US" smtClean="0"/>
              <a:pPr/>
              <a:t>6/25/23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A4BC5-AE2A-401E-9EDD-DF8812A14A6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1766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BFDD5-512B-4522-BA85-F72134273AE1}" type="datetime1">
              <a:rPr lang="en-US" smtClean="0"/>
              <a:pPr/>
              <a:t>6/25/23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A4BC5-AE2A-401E-9EDD-DF8812A14A6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3204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58DFD-FDB4-43ED-A73B-376F2F66B10F}" type="datetime1">
              <a:rPr lang="en-US" smtClean="0"/>
              <a:pPr/>
              <a:t>6/25/23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A4BC5-AE2A-401E-9EDD-DF8812A14A6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7515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AB476-D146-4EA7-B6A7-C7ED67CB0904}" type="datetime1">
              <a:rPr lang="en-US" smtClean="0"/>
              <a:pPr/>
              <a:t>6/25/23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A4BC5-AE2A-401E-9EDD-DF8812A14A6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8596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0457E-5E49-4C84-A5ED-8D6AE6DEE17A}" type="datetime1">
              <a:rPr lang="en-US" smtClean="0"/>
              <a:pPr/>
              <a:t>6/25/23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A4BC5-AE2A-401E-9EDD-DF8812A14A6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0525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47378-4043-40E8-88FD-3B9FC25ACA76}" type="datetime1">
              <a:rPr lang="en-US" smtClean="0"/>
              <a:pPr/>
              <a:t>6/25/23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A4BC5-AE2A-401E-9EDD-DF8812A14A6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370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85160-A181-4E5D-A8B9-6CC6B5BAC31C}" type="datetime1">
              <a:rPr lang="en-US" smtClean="0"/>
              <a:pPr/>
              <a:t>6/25/23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A4BC5-AE2A-401E-9EDD-DF8812A14A6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8142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1D89C-2CB1-4680-B533-FD01CA337ED3}" type="datetime1">
              <a:rPr lang="en-US" smtClean="0"/>
              <a:pPr/>
              <a:t>6/25/23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A4BC5-AE2A-401E-9EDD-DF8812A14A6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5569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9FE058-E24E-44D4-8AE6-4ED6084A3F18}" type="datetime1">
              <a:rPr lang="en-US" smtClean="0"/>
              <a:pPr/>
              <a:t>6/25/23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CA4BC5-AE2A-401E-9EDD-DF8812A14A6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58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066800"/>
            <a:ext cx="7772400" cy="3352800"/>
          </a:xfrm>
        </p:spPr>
        <p:txBody>
          <a:bodyPr>
            <a:normAutofit/>
          </a:bodyPr>
          <a:lstStyle/>
          <a:p>
            <a:r>
              <a:rPr lang="en-US" sz="5400" dirty="0"/>
              <a:t>CAP Theorem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876800"/>
            <a:ext cx="6400800" cy="1219200"/>
          </a:xfrm>
        </p:spPr>
        <p:txBody>
          <a:bodyPr>
            <a:normAutofit fontScale="85000" lnSpcReduction="20000"/>
          </a:bodyPr>
          <a:lstStyle/>
          <a:p>
            <a:endParaRPr lang="en-US" dirty="0">
              <a:solidFill>
                <a:srgbClr val="000000"/>
              </a:solidFill>
            </a:endParaRPr>
          </a:p>
          <a:p>
            <a:r>
              <a:rPr lang="en-US" dirty="0">
                <a:solidFill>
                  <a:srgbClr val="000000"/>
                </a:solidFill>
              </a:rPr>
              <a:t>Some slides from Mohammad </a:t>
            </a:r>
            <a:r>
              <a:rPr lang="en-US" dirty="0" err="1">
                <a:solidFill>
                  <a:srgbClr val="000000"/>
                </a:solidFill>
              </a:rPr>
              <a:t>Hammoud</a:t>
            </a:r>
            <a:r>
              <a:rPr lang="en-US" dirty="0">
                <a:solidFill>
                  <a:srgbClr val="000000"/>
                </a:solidFill>
              </a:rPr>
              <a:t>,  Dong Wang </a:t>
            </a:r>
          </a:p>
          <a:p>
            <a:endParaRPr 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42472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/>
          <a:lstStyle/>
          <a:p>
            <a:r>
              <a:rPr lang="en-US" dirty="0"/>
              <a:t>The CAP Theorem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458200" cy="52578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600" dirty="0"/>
              <a:t>The limitations of distributed databases can be described in the so called the </a:t>
            </a:r>
            <a:r>
              <a:rPr lang="en-US" sz="2600" dirty="0">
                <a:solidFill>
                  <a:srgbClr val="000099"/>
                </a:solidFill>
              </a:rPr>
              <a:t>CAP theorem</a:t>
            </a:r>
          </a:p>
          <a:p>
            <a:pPr lvl="1">
              <a:buFont typeface="Wingdings" pitchFamily="2" charset="2"/>
              <a:buChar char="§"/>
            </a:pPr>
            <a:r>
              <a:rPr lang="en-US" sz="2400" b="1" u="sng" dirty="0">
                <a:solidFill>
                  <a:srgbClr val="C00000"/>
                </a:solidFill>
              </a:rPr>
              <a:t>C</a:t>
            </a:r>
            <a:r>
              <a:rPr lang="en-US" sz="2400" dirty="0">
                <a:solidFill>
                  <a:srgbClr val="C00000"/>
                </a:solidFill>
              </a:rPr>
              <a:t>onsistency</a:t>
            </a:r>
            <a:r>
              <a:rPr lang="en-US" sz="2400" dirty="0"/>
              <a:t>: every node always sees the same data at any given instance (i.e., strict consistency)</a:t>
            </a:r>
          </a:p>
          <a:p>
            <a:pPr lvl="1">
              <a:buFont typeface="Wingdings" pitchFamily="2" charset="2"/>
              <a:buChar char="§"/>
            </a:pPr>
            <a:endParaRPr lang="en-US" sz="2400" dirty="0"/>
          </a:p>
          <a:p>
            <a:pPr lvl="1">
              <a:buFont typeface="Wingdings" pitchFamily="2" charset="2"/>
              <a:buChar char="§"/>
            </a:pPr>
            <a:r>
              <a:rPr lang="en-US" sz="2400" b="1" u="sng" dirty="0">
                <a:solidFill>
                  <a:srgbClr val="C00000"/>
                </a:solidFill>
              </a:rPr>
              <a:t>A</a:t>
            </a:r>
            <a:r>
              <a:rPr lang="en-US" sz="2400" dirty="0">
                <a:solidFill>
                  <a:srgbClr val="C00000"/>
                </a:solidFill>
              </a:rPr>
              <a:t>vailability</a:t>
            </a:r>
            <a:r>
              <a:rPr lang="en-US" sz="2400" dirty="0"/>
              <a:t>: the system continues to operate, even if nodes crash, or some hardware or software parts are down due to upgrades</a:t>
            </a:r>
          </a:p>
          <a:p>
            <a:pPr lvl="1">
              <a:buFont typeface="Wingdings" pitchFamily="2" charset="2"/>
              <a:buChar char="§"/>
            </a:pPr>
            <a:endParaRPr lang="en-US" sz="2400" dirty="0"/>
          </a:p>
          <a:p>
            <a:pPr lvl="1">
              <a:buFont typeface="Wingdings" pitchFamily="2" charset="2"/>
              <a:buChar char="§"/>
            </a:pPr>
            <a:r>
              <a:rPr lang="en-US" sz="2400" b="1" u="sng" dirty="0">
                <a:solidFill>
                  <a:srgbClr val="C00000"/>
                </a:solidFill>
              </a:rPr>
              <a:t>P</a:t>
            </a:r>
            <a:r>
              <a:rPr lang="en-US" sz="2400" dirty="0">
                <a:solidFill>
                  <a:srgbClr val="C00000"/>
                </a:solidFill>
              </a:rPr>
              <a:t>artition Tolerance</a:t>
            </a:r>
            <a:r>
              <a:rPr lang="en-US" sz="2400" dirty="0"/>
              <a:t>: the system continues to operate in the presence of network partitions</a:t>
            </a:r>
          </a:p>
          <a:p>
            <a:pPr lvl="2">
              <a:buFont typeface="Wingdings" pitchFamily="2" charset="2"/>
              <a:buChar char="§"/>
            </a:pPr>
            <a:endParaRPr lang="en-US" sz="1800" dirty="0"/>
          </a:p>
          <a:p>
            <a:pPr lvl="1">
              <a:buFont typeface="Wingdings" pitchFamily="2" charset="2"/>
              <a:buChar char="§"/>
            </a:pPr>
            <a:endParaRPr lang="en-US" sz="1800" dirty="0"/>
          </a:p>
        </p:txBody>
      </p:sp>
      <p:sp>
        <p:nvSpPr>
          <p:cNvPr id="4" name="Rounded Rectangle 3"/>
          <p:cNvSpPr/>
          <p:nvPr/>
        </p:nvSpPr>
        <p:spPr>
          <a:xfrm>
            <a:off x="381000" y="6096000"/>
            <a:ext cx="8458200" cy="609600"/>
          </a:xfrm>
          <a:prstGeom prst="round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CAP theorem: any distributed database with shared data, can have </a:t>
            </a:r>
            <a:r>
              <a:rPr lang="en-US" sz="2000" i="1" u="sng" dirty="0">
                <a:solidFill>
                  <a:schemeClr val="tx1"/>
                </a:solidFill>
              </a:rPr>
              <a:t>at most two</a:t>
            </a:r>
            <a:r>
              <a:rPr lang="en-US" sz="2000" dirty="0">
                <a:solidFill>
                  <a:schemeClr val="tx1"/>
                </a:solidFill>
              </a:rPr>
              <a:t> of the three desirable properties, C, A or P</a:t>
            </a:r>
          </a:p>
        </p:txBody>
      </p:sp>
    </p:spTree>
    <p:extLst>
      <p:ext uri="{BB962C8B-B14F-4D97-AF65-F5344CB8AC3E}">
        <p14:creationId xmlns:p14="http://schemas.microsoft.com/office/powerpoint/2010/main" val="1928513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/>
              <a:t>The CAP Theorem (</a:t>
            </a:r>
            <a:r>
              <a:rPr lang="en-US" i="1" dirty="0"/>
              <a:t>Cont’d</a:t>
            </a:r>
            <a:r>
              <a:rPr lang="en-US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295400"/>
            <a:ext cx="8763000" cy="5562600"/>
          </a:xfrm>
        </p:spPr>
        <p:txBody>
          <a:bodyPr>
            <a:normAutofit fontScale="92500"/>
          </a:bodyPr>
          <a:lstStyle/>
          <a:p>
            <a:pPr>
              <a:buFont typeface="Wingdings" pitchFamily="2" charset="2"/>
              <a:buChar char="§"/>
            </a:pPr>
            <a:r>
              <a:rPr lang="en-US" sz="2600" dirty="0"/>
              <a:t>Let us assume two nodes on opposite sides of a </a:t>
            </a:r>
            <a:br>
              <a:rPr lang="en-US" sz="2600" dirty="0"/>
            </a:br>
            <a:r>
              <a:rPr lang="en-US" sz="2600" dirty="0"/>
              <a:t>network partition:</a:t>
            </a:r>
          </a:p>
          <a:p>
            <a:pPr>
              <a:buFont typeface="Wingdings" pitchFamily="2" charset="2"/>
              <a:buChar char="§"/>
            </a:pPr>
            <a:endParaRPr lang="en-US" sz="2800" dirty="0"/>
          </a:p>
          <a:p>
            <a:pPr>
              <a:buFont typeface="Wingdings" pitchFamily="2" charset="2"/>
              <a:buChar char="§"/>
            </a:pPr>
            <a:endParaRPr lang="en-US" sz="2800" dirty="0"/>
          </a:p>
          <a:p>
            <a:pPr>
              <a:buFont typeface="Wingdings" pitchFamily="2" charset="2"/>
              <a:buChar char="§"/>
            </a:pPr>
            <a:endParaRPr lang="en-US" sz="2800" dirty="0"/>
          </a:p>
          <a:p>
            <a:pPr>
              <a:buFont typeface="Wingdings" pitchFamily="2" charset="2"/>
              <a:buChar char="§"/>
            </a:pPr>
            <a:r>
              <a:rPr lang="en-US" sz="2600" dirty="0"/>
              <a:t>Availability + Partition Tolerance forfeit Consistency as changes in place cannot be propagated when the system is portioned.</a:t>
            </a:r>
          </a:p>
          <a:p>
            <a:pPr>
              <a:buFont typeface="Wingdings" pitchFamily="2" charset="2"/>
              <a:buChar char="§"/>
            </a:pPr>
            <a:endParaRPr lang="en-US" sz="2600" dirty="0"/>
          </a:p>
          <a:p>
            <a:pPr>
              <a:buFont typeface="Wingdings" pitchFamily="2" charset="2"/>
              <a:buChar char="§"/>
            </a:pPr>
            <a:r>
              <a:rPr lang="en-US" sz="2600" dirty="0"/>
              <a:t>Consistency + Partition Tolerance entails that one side of the partition must act as if it is unavailable, thus forfeiting Availability</a:t>
            </a:r>
          </a:p>
          <a:p>
            <a:pPr lvl="2">
              <a:buFont typeface="Wingdings" pitchFamily="2" charset="2"/>
              <a:buChar char="§"/>
            </a:pPr>
            <a:endParaRPr lang="en-US" sz="1800" dirty="0"/>
          </a:p>
          <a:p>
            <a:pPr>
              <a:buFont typeface="Wingdings" pitchFamily="2" charset="2"/>
              <a:buChar char="§"/>
            </a:pPr>
            <a:r>
              <a:rPr lang="en-US" sz="2600" dirty="0"/>
              <a:t>Consistency + Availability is only possible if there is no network partition, thereby forfeiting Partition Tolerance</a:t>
            </a:r>
          </a:p>
          <a:p>
            <a:pPr lvl="1">
              <a:buFont typeface="Wingdings" pitchFamily="2" charset="2"/>
              <a:buChar char="§"/>
            </a:pPr>
            <a:endParaRPr lang="en-US" sz="1800" dirty="0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5492" y="2133600"/>
            <a:ext cx="1066799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4454" y="2133600"/>
            <a:ext cx="1066799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8" name="Straight Connector 7"/>
          <p:cNvCxnSpPr/>
          <p:nvPr/>
        </p:nvCxnSpPr>
        <p:spPr>
          <a:xfrm>
            <a:off x="3352800" y="2667000"/>
            <a:ext cx="17526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Lightning Bolt 10"/>
          <p:cNvSpPr/>
          <p:nvPr/>
        </p:nvSpPr>
        <p:spPr>
          <a:xfrm>
            <a:off x="3886200" y="2133600"/>
            <a:ext cx="762000" cy="1066800"/>
          </a:xfrm>
          <a:prstGeom prst="lightningBol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388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/>
          <a:lstStyle/>
          <a:p>
            <a:r>
              <a:rPr lang="en-US" dirty="0"/>
              <a:t>Large-Scale Databases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458200" cy="52578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600" dirty="0"/>
              <a:t>When companies such as Google and Amazon were designing large-scale databases, 24/7 Availability was a key </a:t>
            </a:r>
          </a:p>
          <a:p>
            <a:pPr lvl="1">
              <a:buFont typeface="Wingdings" pitchFamily="2" charset="2"/>
              <a:buChar char="§"/>
            </a:pPr>
            <a:r>
              <a:rPr lang="en-US" sz="2400" dirty="0"/>
              <a:t>A few minutes of downtime means lost revenue</a:t>
            </a:r>
          </a:p>
          <a:p>
            <a:pPr lvl="1">
              <a:buFont typeface="Wingdings" pitchFamily="2" charset="2"/>
              <a:buChar char="§"/>
            </a:pPr>
            <a:endParaRPr lang="en-US" sz="2200" dirty="0"/>
          </a:p>
          <a:p>
            <a:pPr>
              <a:buFont typeface="Wingdings" pitchFamily="2" charset="2"/>
              <a:buChar char="§"/>
            </a:pPr>
            <a:r>
              <a:rPr lang="en-US" sz="2600" dirty="0"/>
              <a:t>With databases in 1000s of machines, the likelihood of a node or a network failure increases tremendously </a:t>
            </a:r>
          </a:p>
          <a:p>
            <a:pPr>
              <a:buFont typeface="Wingdings" pitchFamily="2" charset="2"/>
              <a:buChar char="§"/>
            </a:pPr>
            <a:endParaRPr lang="en-US" sz="2600" dirty="0"/>
          </a:p>
          <a:p>
            <a:pPr>
              <a:buFont typeface="Wingdings" pitchFamily="2" charset="2"/>
              <a:buChar char="§"/>
            </a:pPr>
            <a:r>
              <a:rPr lang="en-US" sz="2600" dirty="0"/>
              <a:t>Therefore, in order to have strong guarantees on Availability and Partition Tolerance, they had to sacrifice “strict” Consistency (</a:t>
            </a:r>
            <a:r>
              <a:rPr lang="en-US" sz="2600" i="1" dirty="0"/>
              <a:t>implied by the CAP theorem</a:t>
            </a:r>
            <a:r>
              <a:rPr lang="en-US" sz="2600" dirty="0"/>
              <a:t>)</a:t>
            </a:r>
          </a:p>
          <a:p>
            <a:pPr>
              <a:buFont typeface="Wingdings" pitchFamily="2" charset="2"/>
              <a:buChar char="§"/>
            </a:pPr>
            <a:endParaRPr lang="en-US" sz="2600" dirty="0"/>
          </a:p>
          <a:p>
            <a:pPr>
              <a:buFont typeface="Wingdings" pitchFamily="2" charset="2"/>
              <a:buChar char="§"/>
            </a:pPr>
            <a:endParaRPr lang="en-US" sz="2600" dirty="0"/>
          </a:p>
          <a:p>
            <a:pPr lvl="2">
              <a:buFont typeface="Wingdings" pitchFamily="2" charset="2"/>
              <a:buChar char="§"/>
            </a:pPr>
            <a:endParaRPr lang="en-US" sz="1800" dirty="0"/>
          </a:p>
          <a:p>
            <a:pPr lvl="1">
              <a:buFont typeface="Wingdings" pitchFamily="2" charset="2"/>
              <a:buChar char="§"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2035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Consistency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417638"/>
            <a:ext cx="8406063" cy="5146257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Strong Consistency</a:t>
            </a:r>
          </a:p>
          <a:p>
            <a:pPr lvl="1"/>
            <a:r>
              <a:rPr lang="en-US" dirty="0"/>
              <a:t>After the update completes, </a:t>
            </a:r>
            <a:r>
              <a:rPr lang="en-US" b="1" dirty="0"/>
              <a:t>any subsequent access</a:t>
            </a:r>
            <a:r>
              <a:rPr lang="en-US" dirty="0"/>
              <a:t> will return the </a:t>
            </a:r>
            <a:r>
              <a:rPr lang="en-US" b="1" dirty="0"/>
              <a:t>same</a:t>
            </a:r>
            <a:r>
              <a:rPr lang="en-US" dirty="0"/>
              <a:t> updated value.</a:t>
            </a:r>
          </a:p>
          <a:p>
            <a:r>
              <a:rPr lang="en-US" dirty="0"/>
              <a:t>Weak Consistency</a:t>
            </a:r>
          </a:p>
          <a:p>
            <a:pPr lvl="1"/>
            <a:r>
              <a:rPr lang="en-US" dirty="0"/>
              <a:t>It is </a:t>
            </a:r>
            <a:r>
              <a:rPr lang="en-US" b="1" dirty="0"/>
              <a:t>not guaranteed </a:t>
            </a:r>
            <a:r>
              <a:rPr lang="en-US" dirty="0"/>
              <a:t>that subsequent accesses will return the updated value.</a:t>
            </a:r>
          </a:p>
          <a:p>
            <a:r>
              <a:rPr lang="en-US" b="1" dirty="0"/>
              <a:t>Eventual Consistency</a:t>
            </a:r>
          </a:p>
          <a:p>
            <a:pPr lvl="1"/>
            <a:r>
              <a:rPr lang="en-US" dirty="0"/>
              <a:t>Specific form of weak consistency</a:t>
            </a:r>
          </a:p>
          <a:p>
            <a:pPr lvl="1"/>
            <a:r>
              <a:rPr lang="en-US" dirty="0"/>
              <a:t>It is guaranteed that if </a:t>
            </a:r>
            <a:r>
              <a:rPr lang="en-US" b="1" dirty="0"/>
              <a:t>no new updates </a:t>
            </a:r>
            <a:r>
              <a:rPr lang="en-US" dirty="0"/>
              <a:t>are made to object, </a:t>
            </a:r>
            <a:r>
              <a:rPr lang="en-US" b="1" dirty="0"/>
              <a:t>eventually</a:t>
            </a:r>
            <a:r>
              <a:rPr lang="en-US" dirty="0"/>
              <a:t> all accesses will return the last updated value (e.g., </a:t>
            </a:r>
            <a:r>
              <a:rPr lang="en-US" i="1" dirty="0"/>
              <a:t>propagate updates to replicas in a lazy fashion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4710003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Eventual Consistency Variations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417638"/>
            <a:ext cx="8406063" cy="5146257"/>
          </a:xfrm>
        </p:spPr>
        <p:txBody>
          <a:bodyPr>
            <a:normAutofit/>
          </a:bodyPr>
          <a:lstStyle/>
          <a:p>
            <a:r>
              <a:rPr lang="en-US" dirty="0"/>
              <a:t>Causal consistency</a:t>
            </a:r>
          </a:p>
          <a:p>
            <a:pPr lvl="1"/>
            <a:r>
              <a:rPr lang="en-US" dirty="0"/>
              <a:t>Processes that have causal relationship will see consistent data</a:t>
            </a:r>
          </a:p>
          <a:p>
            <a:r>
              <a:rPr lang="en-US" dirty="0"/>
              <a:t>Read-your-write consistency</a:t>
            </a:r>
          </a:p>
          <a:p>
            <a:pPr lvl="1"/>
            <a:r>
              <a:rPr lang="en-US" dirty="0"/>
              <a:t>A process always accesses the data item after it’s update operation and never sees an older value</a:t>
            </a:r>
          </a:p>
          <a:p>
            <a:r>
              <a:rPr lang="en-US" dirty="0"/>
              <a:t>Session consistency</a:t>
            </a:r>
          </a:p>
          <a:p>
            <a:pPr lvl="1"/>
            <a:r>
              <a:rPr lang="en-US" dirty="0"/>
              <a:t>As long as session exists, system guarantees read-your-write consistency</a:t>
            </a:r>
          </a:p>
          <a:p>
            <a:pPr lvl="1"/>
            <a:r>
              <a:rPr lang="en-US" dirty="0"/>
              <a:t>Guarantees do not overlap sessions</a:t>
            </a:r>
          </a:p>
        </p:txBody>
      </p:sp>
    </p:spTree>
    <p:extLst>
      <p:ext uri="{BB962C8B-B14F-4D97-AF65-F5344CB8AC3E}">
        <p14:creationId xmlns:p14="http://schemas.microsoft.com/office/powerpoint/2010/main" val="36607209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Eventual Consistency Variations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417638"/>
            <a:ext cx="8406063" cy="514625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Monotonic read consistency</a:t>
            </a:r>
          </a:p>
          <a:p>
            <a:pPr lvl="1"/>
            <a:r>
              <a:rPr lang="en-US" dirty="0"/>
              <a:t>If a process has seen a particular value of data item, any subsequent processes will never return any previous values</a:t>
            </a:r>
          </a:p>
          <a:p>
            <a:r>
              <a:rPr lang="en-US" dirty="0"/>
              <a:t>Monotonic write consistency</a:t>
            </a:r>
          </a:p>
          <a:p>
            <a:pPr lvl="1"/>
            <a:r>
              <a:rPr lang="en-US" dirty="0"/>
              <a:t>The system guarantees to serialize the writes by the </a:t>
            </a:r>
            <a:r>
              <a:rPr lang="en-US" i="1" dirty="0"/>
              <a:t>same</a:t>
            </a:r>
            <a:r>
              <a:rPr lang="en-US" dirty="0"/>
              <a:t> process </a:t>
            </a:r>
          </a:p>
          <a:p>
            <a:r>
              <a:rPr lang="en-US" dirty="0"/>
              <a:t>In practice </a:t>
            </a:r>
          </a:p>
          <a:p>
            <a:pPr lvl="1"/>
            <a:r>
              <a:rPr lang="en-US" dirty="0"/>
              <a:t>A number of these properties can be combined</a:t>
            </a:r>
          </a:p>
          <a:p>
            <a:pPr lvl="1"/>
            <a:r>
              <a:rPr lang="en-US" dirty="0"/>
              <a:t>Monotonic reads and read-your-writes are most desirable</a:t>
            </a:r>
          </a:p>
        </p:txBody>
      </p:sp>
    </p:spTree>
    <p:extLst>
      <p:ext uri="{BB962C8B-B14F-4D97-AF65-F5344CB8AC3E}">
        <p14:creationId xmlns:p14="http://schemas.microsoft.com/office/powerpoint/2010/main" val="16355103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Eventual Consistency</a:t>
            </a:r>
            <a:br>
              <a:rPr lang="en-US" dirty="0"/>
            </a:br>
            <a:r>
              <a:rPr lang="en-US" dirty="0"/>
              <a:t>- A Facebook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Bob finds an interesting story and shares with Alice by posting on her Facebook wall</a:t>
            </a:r>
          </a:p>
          <a:p>
            <a:r>
              <a:rPr lang="en-US" dirty="0"/>
              <a:t>Bob asks Alice to check it out</a:t>
            </a:r>
          </a:p>
          <a:p>
            <a:r>
              <a:rPr lang="en-US" dirty="0"/>
              <a:t>Alice logs in her account, checks her Facebook wall but finds:</a:t>
            </a:r>
          </a:p>
          <a:p>
            <a:pPr marL="0" indent="0">
              <a:buNone/>
            </a:pPr>
            <a:r>
              <a:rPr lang="en-US" dirty="0"/>
              <a:t>	- </a:t>
            </a:r>
            <a:r>
              <a:rPr lang="en-US" b="1" dirty="0"/>
              <a:t>Nothing is there!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225" y="5072141"/>
            <a:ext cx="2417519" cy="146897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9972" y="4684300"/>
            <a:ext cx="1952400" cy="19524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4502" y="4889075"/>
            <a:ext cx="1560652" cy="1560652"/>
          </a:xfrm>
          <a:prstGeom prst="rect">
            <a:avLst/>
          </a:prstGeom>
        </p:spPr>
      </p:pic>
      <p:sp>
        <p:nvSpPr>
          <p:cNvPr id="7" name="Right Arrow 6"/>
          <p:cNvSpPr/>
          <p:nvPr/>
        </p:nvSpPr>
        <p:spPr>
          <a:xfrm>
            <a:off x="3140744" y="5775877"/>
            <a:ext cx="764703" cy="350286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Arrow 7"/>
          <p:cNvSpPr/>
          <p:nvPr/>
        </p:nvSpPr>
        <p:spPr>
          <a:xfrm>
            <a:off x="5735269" y="5798454"/>
            <a:ext cx="764703" cy="350286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5889596" y="4852547"/>
            <a:ext cx="505555" cy="923330"/>
          </a:xfrm>
          <a:prstGeom prst="rect">
            <a:avLst/>
          </a:prstGeom>
          <a:noFill/>
          <a:ln>
            <a:noFill/>
          </a:ln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7982395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Eventual Consistency</a:t>
            </a:r>
            <a:br>
              <a:rPr lang="en-US" dirty="0"/>
            </a:br>
            <a:r>
              <a:rPr lang="en-US" dirty="0"/>
              <a:t>- A Facebook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Bob tells Alice to wait a bit and check out later</a:t>
            </a:r>
          </a:p>
          <a:p>
            <a:r>
              <a:rPr lang="en-US" dirty="0"/>
              <a:t>Alice waits for a minute or so and checks back:</a:t>
            </a:r>
          </a:p>
          <a:p>
            <a:pPr marL="0" indent="0">
              <a:buNone/>
            </a:pPr>
            <a:r>
              <a:rPr lang="en-US" dirty="0"/>
              <a:t>	- </a:t>
            </a:r>
            <a:r>
              <a:rPr lang="en-US" b="1" dirty="0"/>
              <a:t>She finds the story Bob shared with her!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1" y="5072141"/>
            <a:ext cx="2417519" cy="146897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4400" y="4684300"/>
            <a:ext cx="1952400" cy="19524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3327" y="4884343"/>
            <a:ext cx="1560652" cy="1560652"/>
          </a:xfrm>
          <a:prstGeom prst="rect">
            <a:avLst/>
          </a:prstGeom>
        </p:spPr>
      </p:pic>
      <p:sp>
        <p:nvSpPr>
          <p:cNvPr id="7" name="Right Arrow 6"/>
          <p:cNvSpPr/>
          <p:nvPr/>
        </p:nvSpPr>
        <p:spPr>
          <a:xfrm>
            <a:off x="2874719" y="5775877"/>
            <a:ext cx="764703" cy="350286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Arrow 7"/>
          <p:cNvSpPr/>
          <p:nvPr/>
        </p:nvSpPr>
        <p:spPr>
          <a:xfrm>
            <a:off x="5735269" y="5798454"/>
            <a:ext cx="764703" cy="350286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8408" y="4566206"/>
            <a:ext cx="1105993" cy="1011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383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Eventual Consistency</a:t>
            </a:r>
            <a:br>
              <a:rPr lang="en-US" dirty="0"/>
            </a:br>
            <a:r>
              <a:rPr lang="en-US" dirty="0"/>
              <a:t>- A Facebook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Reason: it is possible because Facebook uses an </a:t>
            </a:r>
            <a:r>
              <a:rPr lang="en-US" b="1" dirty="0"/>
              <a:t>eventual consistent model</a:t>
            </a:r>
          </a:p>
          <a:p>
            <a:r>
              <a:rPr lang="en-US" dirty="0"/>
              <a:t>Why Facebook chooses eventual consistent model over the strong consistent one?</a:t>
            </a:r>
          </a:p>
          <a:p>
            <a:pPr lvl="1"/>
            <a:r>
              <a:rPr lang="en-US" dirty="0"/>
              <a:t>Facebook has more than 1 billion active users</a:t>
            </a:r>
          </a:p>
          <a:p>
            <a:pPr lvl="1"/>
            <a:r>
              <a:rPr lang="en-US" dirty="0"/>
              <a:t>It is non-trivial to efficiently and reliably store the huge amount of data generated at any given time</a:t>
            </a:r>
          </a:p>
          <a:p>
            <a:pPr lvl="1"/>
            <a:r>
              <a:rPr lang="en-US" dirty="0"/>
              <a:t>Eventual consistent model offers the option to </a:t>
            </a:r>
            <a:r>
              <a:rPr lang="en-US" b="1" dirty="0"/>
              <a:t>reduce the load and improve availability </a:t>
            </a:r>
          </a:p>
        </p:txBody>
      </p:sp>
    </p:spTree>
    <p:extLst>
      <p:ext uri="{BB962C8B-B14F-4D97-AF65-F5344CB8AC3E}">
        <p14:creationId xmlns:p14="http://schemas.microsoft.com/office/powerpoint/2010/main" val="2680354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Eventual Consistency</a:t>
            </a:r>
            <a:br>
              <a:rPr lang="en-US" dirty="0"/>
            </a:br>
            <a:r>
              <a:rPr lang="en-US" dirty="0"/>
              <a:t>- A </a:t>
            </a:r>
            <a:r>
              <a:rPr lang="en-US" dirty="0" err="1"/>
              <a:t>Dropbox</a:t>
            </a:r>
            <a:r>
              <a:rPr lang="en-US" dirty="0"/>
              <a:t>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Dropbox</a:t>
            </a:r>
            <a:r>
              <a:rPr lang="en-US" dirty="0"/>
              <a:t> enabled immediate consistency via synchronization in many cases.</a:t>
            </a:r>
          </a:p>
          <a:p>
            <a:r>
              <a:rPr lang="en-US" dirty="0"/>
              <a:t>However, what happens in case of a network partition? 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0299" y="3959820"/>
            <a:ext cx="2348508" cy="2348508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404" y="3959822"/>
            <a:ext cx="2793913" cy="2567057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7198" y="4164640"/>
            <a:ext cx="1605227" cy="1605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25846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Eventual Consistency</a:t>
            </a:r>
            <a:br>
              <a:rPr lang="en-US" dirty="0"/>
            </a:br>
            <a:r>
              <a:rPr lang="en-US" dirty="0"/>
              <a:t>- A </a:t>
            </a:r>
            <a:r>
              <a:rPr lang="en-US" dirty="0" err="1"/>
              <a:t>Dropbox</a:t>
            </a:r>
            <a:r>
              <a:rPr lang="en-US" dirty="0"/>
              <a:t>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Let’s do a simple experiment here:</a:t>
            </a:r>
          </a:p>
          <a:p>
            <a:pPr lvl="1"/>
            <a:r>
              <a:rPr lang="en-US" dirty="0"/>
              <a:t>Open a file in your drop box</a:t>
            </a:r>
          </a:p>
          <a:p>
            <a:pPr lvl="1"/>
            <a:r>
              <a:rPr lang="en-US" dirty="0"/>
              <a:t>Disable your network connection (e.g., </a:t>
            </a:r>
            <a:r>
              <a:rPr lang="en-US" dirty="0" err="1"/>
              <a:t>WiFi</a:t>
            </a:r>
            <a:r>
              <a:rPr lang="en-US" dirty="0"/>
              <a:t>, 4G) </a:t>
            </a:r>
          </a:p>
          <a:p>
            <a:pPr lvl="1"/>
            <a:r>
              <a:rPr lang="en-US" dirty="0"/>
              <a:t>Try to edit the file in the drop box: can you do that?</a:t>
            </a:r>
          </a:p>
          <a:p>
            <a:pPr lvl="1"/>
            <a:r>
              <a:rPr lang="en-US" dirty="0"/>
              <a:t>Re-enable your network connection: what happens to your </a:t>
            </a:r>
            <a:r>
              <a:rPr lang="en-US" dirty="0" err="1"/>
              <a:t>dropbox</a:t>
            </a:r>
            <a:r>
              <a:rPr lang="en-US" dirty="0"/>
              <a:t> folder?</a:t>
            </a:r>
          </a:p>
        </p:txBody>
      </p:sp>
    </p:spTree>
    <p:extLst>
      <p:ext uri="{BB962C8B-B14F-4D97-AF65-F5344CB8AC3E}">
        <p14:creationId xmlns:p14="http://schemas.microsoft.com/office/powerpoint/2010/main" val="16621712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Eventual Consistency</a:t>
            </a:r>
            <a:br>
              <a:rPr lang="en-US" dirty="0"/>
            </a:br>
            <a:r>
              <a:rPr lang="en-US" dirty="0"/>
              <a:t>- A </a:t>
            </a:r>
            <a:r>
              <a:rPr lang="en-US" dirty="0" err="1"/>
              <a:t>Dropbox</a:t>
            </a:r>
            <a:r>
              <a:rPr lang="en-US" dirty="0"/>
              <a:t>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Dropbox</a:t>
            </a:r>
            <a:r>
              <a:rPr lang="en-US" dirty="0"/>
              <a:t> embraces eventual consistency:</a:t>
            </a:r>
          </a:p>
          <a:p>
            <a:pPr lvl="1"/>
            <a:r>
              <a:rPr lang="en-US" dirty="0"/>
              <a:t>Immediate consistency is impossible in case of a network partition</a:t>
            </a:r>
          </a:p>
          <a:p>
            <a:pPr lvl="1"/>
            <a:r>
              <a:rPr lang="en-US" dirty="0"/>
              <a:t>Users will feel bad if their word documents freeze each time they hit </a:t>
            </a:r>
            <a:r>
              <a:rPr lang="en-US" dirty="0" err="1"/>
              <a:t>Ctrl+S</a:t>
            </a:r>
            <a:r>
              <a:rPr lang="en-US" dirty="0"/>
              <a:t> , simply due to the large latency to update all devices across WAN </a:t>
            </a:r>
          </a:p>
          <a:p>
            <a:pPr lvl="1"/>
            <a:r>
              <a:rPr lang="en-US" dirty="0" err="1"/>
              <a:t>Dropbox</a:t>
            </a:r>
            <a:r>
              <a:rPr lang="en-US" dirty="0"/>
              <a:t> is oriented to </a:t>
            </a:r>
            <a:r>
              <a:rPr lang="en-US" b="1" dirty="0"/>
              <a:t>personal syncing</a:t>
            </a:r>
            <a:r>
              <a:rPr lang="en-US" dirty="0"/>
              <a:t>, not on collaboration, so it is not a real limitation.</a:t>
            </a:r>
          </a:p>
        </p:txBody>
      </p:sp>
    </p:spTree>
    <p:extLst>
      <p:ext uri="{BB962C8B-B14F-4D97-AF65-F5344CB8AC3E}">
        <p14:creationId xmlns:p14="http://schemas.microsoft.com/office/powerpoint/2010/main" val="9627503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4438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Eventual Consistency</a:t>
            </a:r>
            <a:br>
              <a:rPr lang="en-US" dirty="0"/>
            </a:br>
            <a:r>
              <a:rPr lang="en-US" dirty="0"/>
              <a:t>- An ATM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90329"/>
            <a:ext cx="8229600" cy="4525963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In design of automated teller machine (ATM):</a:t>
            </a:r>
          </a:p>
          <a:p>
            <a:pPr lvl="1"/>
            <a:r>
              <a:rPr lang="en-US" dirty="0"/>
              <a:t>Strong consistency appear to be a nature choice</a:t>
            </a:r>
          </a:p>
          <a:p>
            <a:pPr lvl="1"/>
            <a:r>
              <a:rPr lang="en-US" dirty="0"/>
              <a:t>However, in practice, </a:t>
            </a:r>
            <a:r>
              <a:rPr lang="en-US" b="1" dirty="0"/>
              <a:t>A beats C</a:t>
            </a:r>
          </a:p>
          <a:p>
            <a:pPr lvl="1"/>
            <a:r>
              <a:rPr lang="en-US" dirty="0"/>
              <a:t>Higher availability means </a:t>
            </a:r>
            <a:r>
              <a:rPr lang="en-US" b="1" dirty="0"/>
              <a:t>higher revenue</a:t>
            </a:r>
          </a:p>
          <a:p>
            <a:pPr lvl="1"/>
            <a:r>
              <a:rPr lang="en-US" dirty="0"/>
              <a:t>ATM will allow you to withdraw money </a:t>
            </a:r>
            <a:r>
              <a:rPr lang="en-US" i="1" dirty="0"/>
              <a:t>even if the machine is partitioned from the network</a:t>
            </a:r>
          </a:p>
          <a:p>
            <a:pPr lvl="1"/>
            <a:r>
              <a:rPr lang="en-US" dirty="0"/>
              <a:t>However, it puts </a:t>
            </a:r>
            <a:r>
              <a:rPr lang="en-US" b="1" dirty="0"/>
              <a:t>a limit </a:t>
            </a:r>
            <a:r>
              <a:rPr lang="en-US" dirty="0"/>
              <a:t>on the amount of withdraw (e.g., $200)</a:t>
            </a:r>
          </a:p>
          <a:p>
            <a:pPr lvl="1"/>
            <a:r>
              <a:rPr lang="en-US" dirty="0"/>
              <a:t>The bank might also charge you a fee when a overdraft happens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8087" y="5379892"/>
            <a:ext cx="2625285" cy="1371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4776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Dynamic Tradeoff between </a:t>
            </a:r>
            <a:r>
              <a:rPr lang="en-US" b="1" dirty="0"/>
              <a:t>C</a:t>
            </a:r>
            <a:r>
              <a:rPr lang="en-US" dirty="0"/>
              <a:t> and </a:t>
            </a:r>
            <a:r>
              <a:rPr lang="en-US" b="1" dirty="0"/>
              <a:t>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An airline reservation system:</a:t>
            </a:r>
          </a:p>
          <a:p>
            <a:pPr lvl="1"/>
            <a:r>
              <a:rPr lang="en-US" dirty="0"/>
              <a:t>When most of seats are available: it is ok to rely on somewhat out-of-date data, availability is more critical</a:t>
            </a:r>
          </a:p>
          <a:p>
            <a:pPr lvl="1"/>
            <a:r>
              <a:rPr lang="en-US" dirty="0"/>
              <a:t>When the plane is close to be filled: it needs more accurate data to ensure the plane is not overbooked, consistency is more critical</a:t>
            </a:r>
          </a:p>
        </p:txBody>
      </p:sp>
    </p:spTree>
    <p:extLst>
      <p:ext uri="{BB962C8B-B14F-4D97-AF65-F5344CB8AC3E}">
        <p14:creationId xmlns:p14="http://schemas.microsoft.com/office/powerpoint/2010/main" val="22871824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Heterogeneity: Segmenting </a:t>
            </a:r>
            <a:r>
              <a:rPr lang="en-US" b="1" dirty="0"/>
              <a:t>C</a:t>
            </a:r>
            <a:r>
              <a:rPr lang="en-US" dirty="0"/>
              <a:t> and </a:t>
            </a:r>
            <a:r>
              <a:rPr lang="en-US" b="1" dirty="0"/>
              <a:t>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No single uniform requirement</a:t>
            </a:r>
          </a:p>
          <a:p>
            <a:pPr lvl="1"/>
            <a:r>
              <a:rPr lang="en-US" dirty="0"/>
              <a:t>Some aspects require strong consistency</a:t>
            </a:r>
          </a:p>
          <a:p>
            <a:pPr lvl="1"/>
            <a:r>
              <a:rPr lang="en-US" dirty="0"/>
              <a:t>Others require high availability</a:t>
            </a:r>
          </a:p>
          <a:p>
            <a:r>
              <a:rPr lang="en-US" dirty="0"/>
              <a:t>Segment the system into different components</a:t>
            </a:r>
          </a:p>
          <a:p>
            <a:pPr lvl="1"/>
            <a:r>
              <a:rPr lang="en-US" dirty="0"/>
              <a:t>Each provides different types of guarantees </a:t>
            </a:r>
          </a:p>
          <a:p>
            <a:r>
              <a:rPr lang="en-US" dirty="0"/>
              <a:t>Overall guarantees neither consistency nor availability</a:t>
            </a:r>
          </a:p>
          <a:p>
            <a:pPr lvl="1"/>
            <a:r>
              <a:rPr lang="en-US" dirty="0"/>
              <a:t>Each part of the service gets exactly what it needs 	</a:t>
            </a:r>
          </a:p>
          <a:p>
            <a:r>
              <a:rPr lang="en-US" dirty="0"/>
              <a:t>Can be partitioned along different dimensions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2475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Partitioning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Data Partitioning</a:t>
            </a:r>
          </a:p>
          <a:p>
            <a:pPr>
              <a:buFontTx/>
              <a:buChar char="•"/>
            </a:pPr>
            <a:r>
              <a:rPr lang="en-US" dirty="0"/>
              <a:t>Different data may require different consistency and availability</a:t>
            </a:r>
          </a:p>
          <a:p>
            <a:pPr>
              <a:buFontTx/>
              <a:buChar char="•"/>
            </a:pPr>
            <a:r>
              <a:rPr lang="en-US" dirty="0"/>
              <a:t>Example:</a:t>
            </a:r>
          </a:p>
          <a:p>
            <a:pPr lvl="1">
              <a:buFontTx/>
              <a:buChar char="•"/>
            </a:pPr>
            <a:r>
              <a:rPr lang="en-US" dirty="0"/>
              <a:t>Shopping cart: high availability, responsive, can sometimes suffer anomalies</a:t>
            </a:r>
          </a:p>
          <a:p>
            <a:pPr lvl="1">
              <a:buFontTx/>
              <a:buChar char="•"/>
            </a:pPr>
            <a:r>
              <a:rPr lang="en-US" dirty="0"/>
              <a:t>Product information need to be available, slight variation in inventory is sufferable</a:t>
            </a:r>
          </a:p>
          <a:p>
            <a:pPr lvl="1">
              <a:buFontTx/>
              <a:buChar char="•"/>
            </a:pPr>
            <a:r>
              <a:rPr lang="en-US" dirty="0"/>
              <a:t>Checkout, billing, shipping records must be consistent</a:t>
            </a:r>
          </a:p>
        </p:txBody>
      </p:sp>
    </p:spTree>
    <p:extLst>
      <p:ext uri="{BB962C8B-B14F-4D97-AF65-F5344CB8AC3E}">
        <p14:creationId xmlns:p14="http://schemas.microsoft.com/office/powerpoint/2010/main" val="17109621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if there are no partitions?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36958"/>
          </a:xfrm>
        </p:spPr>
        <p:txBody>
          <a:bodyPr>
            <a:normAutofit fontScale="92500"/>
          </a:bodyPr>
          <a:lstStyle/>
          <a:p>
            <a:r>
              <a:rPr lang="en-US" dirty="0"/>
              <a:t>Tradeoff between </a:t>
            </a:r>
            <a:r>
              <a:rPr lang="en-US" b="1" dirty="0"/>
              <a:t>Consistency</a:t>
            </a:r>
            <a:r>
              <a:rPr lang="en-US" dirty="0"/>
              <a:t> and </a:t>
            </a:r>
            <a:r>
              <a:rPr lang="en-US" b="1" dirty="0"/>
              <a:t>Latency</a:t>
            </a:r>
            <a:r>
              <a:rPr lang="en-US" dirty="0"/>
              <a:t>:</a:t>
            </a:r>
          </a:p>
          <a:p>
            <a:r>
              <a:rPr lang="en-US" dirty="0"/>
              <a:t>Caused by the </a:t>
            </a:r>
            <a:r>
              <a:rPr lang="en-US" b="1" dirty="0"/>
              <a:t>possibility of failure </a:t>
            </a:r>
            <a:r>
              <a:rPr lang="en-US" dirty="0"/>
              <a:t>in distributed systems</a:t>
            </a:r>
          </a:p>
          <a:p>
            <a:pPr lvl="1"/>
            <a:r>
              <a:rPr lang="en-US" dirty="0"/>
              <a:t>High availability -&gt; replicate data -&gt; consistency problem</a:t>
            </a:r>
          </a:p>
          <a:p>
            <a:r>
              <a:rPr lang="en-US" dirty="0"/>
              <a:t>Basic idea:</a:t>
            </a:r>
          </a:p>
          <a:p>
            <a:pPr lvl="1"/>
            <a:r>
              <a:rPr lang="en-US" dirty="0"/>
              <a:t>Availability and latency are arguably </a:t>
            </a:r>
            <a:r>
              <a:rPr lang="en-US" b="1" dirty="0"/>
              <a:t>the same thing</a:t>
            </a:r>
            <a:r>
              <a:rPr lang="en-US" dirty="0"/>
              <a:t>: unavailable -&gt; extreme high latency</a:t>
            </a:r>
          </a:p>
          <a:p>
            <a:pPr lvl="1"/>
            <a:r>
              <a:rPr lang="en-US" dirty="0"/>
              <a:t>Achieving different levels of consistency/availability takes different amount of time</a:t>
            </a:r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59226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/>
          <a:lstStyle/>
          <a:p>
            <a:r>
              <a:rPr lang="en-US" dirty="0"/>
              <a:t>Trading-Off Consistency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458200" cy="52578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600" dirty="0"/>
              <a:t>Maintaining consistency should balance between the strictness of consistency versus availability/scalability</a:t>
            </a:r>
          </a:p>
          <a:p>
            <a:pPr lvl="1">
              <a:buFont typeface="Wingdings" pitchFamily="2" charset="2"/>
              <a:buChar char="§"/>
            </a:pPr>
            <a:r>
              <a:rPr lang="en-US" sz="2400" dirty="0"/>
              <a:t>Good-enough consistency </a:t>
            </a:r>
            <a:r>
              <a:rPr lang="en-US" sz="2400" i="1" u="sng" dirty="0"/>
              <a:t>depends on your application</a:t>
            </a:r>
          </a:p>
          <a:p>
            <a:pPr lvl="4"/>
            <a:endParaRPr lang="en-US" sz="1050" dirty="0"/>
          </a:p>
          <a:p>
            <a:pPr>
              <a:buFont typeface="Wingdings" pitchFamily="2" charset="2"/>
              <a:buChar char="§"/>
            </a:pPr>
            <a:endParaRPr lang="en-US" sz="2600" dirty="0"/>
          </a:p>
          <a:p>
            <a:pPr>
              <a:buFont typeface="Wingdings" pitchFamily="2" charset="2"/>
              <a:buChar char="§"/>
            </a:pPr>
            <a:endParaRPr lang="en-US" sz="2600" dirty="0"/>
          </a:p>
          <a:p>
            <a:pPr lvl="2">
              <a:buFont typeface="Wingdings" pitchFamily="2" charset="2"/>
              <a:buChar char="§"/>
            </a:pPr>
            <a:endParaRPr lang="en-US" sz="1800" dirty="0"/>
          </a:p>
          <a:p>
            <a:pPr lvl="1">
              <a:buFont typeface="Wingdings" pitchFamily="2" charset="2"/>
              <a:buChar char="§"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97041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/>
          <a:lstStyle/>
          <a:p>
            <a:r>
              <a:rPr lang="en-US" dirty="0"/>
              <a:t>Trading-Off Consistency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458200" cy="52578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600" dirty="0"/>
              <a:t>Maintaining consistency should balance between the strictness of consistency versus availability/scalability</a:t>
            </a:r>
          </a:p>
          <a:p>
            <a:pPr lvl="1">
              <a:buFont typeface="Wingdings" pitchFamily="2" charset="2"/>
              <a:buChar char="§"/>
            </a:pPr>
            <a:r>
              <a:rPr lang="en-US" sz="2400" dirty="0"/>
              <a:t>Good-enough consistency </a:t>
            </a:r>
            <a:r>
              <a:rPr lang="en-US" sz="2400" i="1" u="sng" dirty="0"/>
              <a:t>depends on your application</a:t>
            </a:r>
          </a:p>
          <a:p>
            <a:pPr lvl="4"/>
            <a:endParaRPr lang="en-US" sz="1050" dirty="0"/>
          </a:p>
          <a:p>
            <a:pPr>
              <a:buFont typeface="Wingdings" pitchFamily="2" charset="2"/>
              <a:buChar char="§"/>
            </a:pPr>
            <a:endParaRPr lang="en-US" sz="2600" dirty="0"/>
          </a:p>
          <a:p>
            <a:pPr>
              <a:buFont typeface="Wingdings" pitchFamily="2" charset="2"/>
              <a:buChar char="§"/>
            </a:pPr>
            <a:endParaRPr lang="en-US" sz="2600" dirty="0"/>
          </a:p>
          <a:p>
            <a:pPr lvl="2">
              <a:buFont typeface="Wingdings" pitchFamily="2" charset="2"/>
              <a:buChar char="§"/>
            </a:pPr>
            <a:endParaRPr lang="en-US" sz="1800" dirty="0"/>
          </a:p>
          <a:p>
            <a:pPr lvl="1">
              <a:buFont typeface="Wingdings" pitchFamily="2" charset="2"/>
              <a:buChar char="§"/>
            </a:pPr>
            <a:endParaRPr lang="en-US" sz="1800" dirty="0"/>
          </a:p>
        </p:txBody>
      </p:sp>
      <p:sp>
        <p:nvSpPr>
          <p:cNvPr id="4" name="Left-Right Arrow 3"/>
          <p:cNvSpPr/>
          <p:nvPr/>
        </p:nvSpPr>
        <p:spPr>
          <a:xfrm>
            <a:off x="914400" y="3697069"/>
            <a:ext cx="7162800" cy="951131"/>
          </a:xfrm>
          <a:prstGeom prst="left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400800" y="3175337"/>
            <a:ext cx="228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b="1" dirty="0">
                <a:solidFill>
                  <a:srgbClr val="0000FF"/>
                </a:solidFill>
              </a:rPr>
              <a:t>Strict Consistency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0" y="4992469"/>
            <a:ext cx="32766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350" lvl="1" indent="-6350" algn="ctr"/>
            <a:r>
              <a:rPr lang="en-US" dirty="0"/>
              <a:t>Generally hard to implement, and is inefficient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1000" y="3163669"/>
            <a:ext cx="228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b="1" dirty="0">
                <a:solidFill>
                  <a:srgbClr val="0000FF"/>
                </a:solidFill>
              </a:rPr>
              <a:t>Loose Consistency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600" y="4916269"/>
            <a:ext cx="240618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17475" lvl="0" indent="-117475"/>
            <a:r>
              <a:rPr lang="en-US" dirty="0"/>
              <a:t>Easier to implement, and is efficient </a:t>
            </a:r>
          </a:p>
        </p:txBody>
      </p:sp>
      <p:pic>
        <p:nvPicPr>
          <p:cNvPr id="9" name="Picture 2" descr="C:\Documents and Settings\dd\Local Settings\Temporary Internet Files\Content.IE5\2JSTM34V\MM900288870[1].gif"/>
          <p:cNvPicPr>
            <a:picLocks noChangeAspect="1" noChangeArrowheads="1" noCrop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90800" y="3076575"/>
            <a:ext cx="619125" cy="8096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02336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1.11111E-6 L 0.34948 0.00347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5" y="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4948 0.00347 L 0.11614 0.00347 " pathEditMode="relative" rAng="0" ptsTypes="AA">
                                      <p:cBhvr>
                                        <p:cTn id="11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/>
          <a:lstStyle/>
          <a:p>
            <a:r>
              <a:rPr lang="en-US" dirty="0"/>
              <a:t>The BASE Properties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458200" cy="52578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600" dirty="0"/>
              <a:t>The CAP theorem proves that it is impossible to guarantee strict Consistency and Availability while being able to tolerate network partitions</a:t>
            </a:r>
          </a:p>
          <a:p>
            <a:pPr>
              <a:buFont typeface="Wingdings" pitchFamily="2" charset="2"/>
              <a:buChar char="§"/>
            </a:pPr>
            <a:endParaRPr lang="en-US" sz="2600" dirty="0"/>
          </a:p>
          <a:p>
            <a:pPr>
              <a:buFont typeface="Wingdings" pitchFamily="2" charset="2"/>
              <a:buChar char="§"/>
            </a:pPr>
            <a:r>
              <a:rPr lang="en-US" sz="2600" dirty="0"/>
              <a:t>This resulted in databases with relaxed ACID guarantees</a:t>
            </a:r>
          </a:p>
          <a:p>
            <a:pPr>
              <a:buFont typeface="Wingdings" pitchFamily="2" charset="2"/>
              <a:buChar char="§"/>
            </a:pPr>
            <a:endParaRPr lang="en-US" sz="2600" dirty="0"/>
          </a:p>
          <a:p>
            <a:pPr>
              <a:buFont typeface="Wingdings" pitchFamily="2" charset="2"/>
              <a:buChar char="§"/>
            </a:pPr>
            <a:r>
              <a:rPr lang="en-US" sz="2600" dirty="0"/>
              <a:t>In particular, such databases apply the BASE properties:</a:t>
            </a:r>
          </a:p>
          <a:p>
            <a:pPr lvl="1">
              <a:buFont typeface="Wingdings" pitchFamily="2" charset="2"/>
              <a:buChar char="§"/>
            </a:pPr>
            <a:r>
              <a:rPr lang="en-US" sz="2400" b="1" u="sng" dirty="0"/>
              <a:t>B</a:t>
            </a:r>
            <a:r>
              <a:rPr lang="en-US" sz="2400" dirty="0"/>
              <a:t>asically </a:t>
            </a:r>
            <a:r>
              <a:rPr lang="en-US" sz="2400" b="1" u="sng" dirty="0"/>
              <a:t>A</a:t>
            </a:r>
            <a:r>
              <a:rPr lang="en-US" sz="2400" dirty="0"/>
              <a:t>vailable: the system guarantees Availability</a:t>
            </a:r>
          </a:p>
          <a:p>
            <a:pPr lvl="1">
              <a:buFont typeface="Wingdings" pitchFamily="2" charset="2"/>
              <a:buChar char="§"/>
            </a:pPr>
            <a:r>
              <a:rPr lang="en-US" sz="2400" b="1" u="sng" dirty="0"/>
              <a:t>S</a:t>
            </a:r>
            <a:r>
              <a:rPr lang="en-US" sz="2400" dirty="0"/>
              <a:t>oft-State: the state of the system may change over time</a:t>
            </a:r>
          </a:p>
          <a:p>
            <a:pPr lvl="1">
              <a:buFont typeface="Wingdings" pitchFamily="2" charset="2"/>
              <a:buChar char="§"/>
            </a:pPr>
            <a:r>
              <a:rPr lang="en-US" sz="2400" b="1" u="sng" dirty="0"/>
              <a:t>E</a:t>
            </a:r>
            <a:r>
              <a:rPr lang="en-US" sz="2400" dirty="0"/>
              <a:t>ventual Consistency: the system will </a:t>
            </a:r>
            <a:r>
              <a:rPr lang="en-US" sz="2400" i="1" dirty="0"/>
              <a:t>eventually</a:t>
            </a:r>
            <a:r>
              <a:rPr lang="en-US" sz="2400" dirty="0"/>
              <a:t> </a:t>
            </a:r>
            <a:br>
              <a:rPr lang="en-US" sz="2400" dirty="0"/>
            </a:br>
            <a:r>
              <a:rPr lang="en-US" sz="2400" dirty="0"/>
              <a:t>become consistent</a:t>
            </a:r>
          </a:p>
          <a:p>
            <a:pPr>
              <a:buFont typeface="Wingdings" pitchFamily="2" charset="2"/>
              <a:buChar char="§"/>
            </a:pPr>
            <a:endParaRPr lang="en-US" sz="2600" dirty="0"/>
          </a:p>
          <a:p>
            <a:pPr>
              <a:buFont typeface="Wingdings" pitchFamily="2" charset="2"/>
              <a:buChar char="§"/>
            </a:pPr>
            <a:endParaRPr lang="en-US" sz="2600" dirty="0"/>
          </a:p>
          <a:p>
            <a:pPr lvl="2">
              <a:buFont typeface="Wingdings" pitchFamily="2" charset="2"/>
              <a:buChar char="§"/>
            </a:pPr>
            <a:endParaRPr lang="en-US" sz="1800" dirty="0"/>
          </a:p>
          <a:p>
            <a:pPr lvl="1">
              <a:buFont typeface="Wingdings" pitchFamily="2" charset="2"/>
              <a:buChar char="§"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365054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CAP -&gt; PACELC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more complete description of the space of potential tradeoffs for distributed system:</a:t>
            </a:r>
          </a:p>
          <a:p>
            <a:pPr lvl="1"/>
            <a:r>
              <a:rPr lang="en-US" dirty="0"/>
              <a:t>If there is a </a:t>
            </a:r>
            <a:r>
              <a:rPr lang="en-US" b="1" dirty="0"/>
              <a:t>partition (P)</a:t>
            </a:r>
            <a:r>
              <a:rPr lang="en-US" dirty="0"/>
              <a:t>, how does the system trade off </a:t>
            </a:r>
            <a:r>
              <a:rPr lang="en-US" b="1" dirty="0"/>
              <a:t>availability and consistency (A and C)</a:t>
            </a:r>
            <a:r>
              <a:rPr lang="en-US" dirty="0"/>
              <a:t>; </a:t>
            </a:r>
            <a:r>
              <a:rPr lang="en-US" b="1" dirty="0"/>
              <a:t>else (E)</a:t>
            </a:r>
            <a:r>
              <a:rPr lang="en-US" dirty="0"/>
              <a:t>, when the system is running normally in the absence of partitions, how does the system trade off </a:t>
            </a:r>
            <a:r>
              <a:rPr lang="en-US" b="1" dirty="0"/>
              <a:t>latency (L) and consistency (C)</a:t>
            </a:r>
            <a:r>
              <a:rPr lang="en-US" dirty="0"/>
              <a:t>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56632" y="5323151"/>
            <a:ext cx="69248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Abadi</a:t>
            </a:r>
            <a:r>
              <a:rPr lang="en-US" dirty="0"/>
              <a:t>, Daniel J. "Consistency tradeoffs in modern distributed database system design." Computer-IEEE Computer Magazine 45.2 (2012): 37.</a:t>
            </a:r>
          </a:p>
        </p:txBody>
      </p:sp>
    </p:spTree>
    <p:extLst>
      <p:ext uri="{BB962C8B-B14F-4D97-AF65-F5344CB8AC3E}">
        <p14:creationId xmlns:p14="http://schemas.microsoft.com/office/powerpoint/2010/main" val="17298979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638"/>
            <a:ext cx="8229600" cy="1143000"/>
          </a:xfrm>
        </p:spPr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4541" y="1027668"/>
            <a:ext cx="8229600" cy="5279941"/>
          </a:xfrm>
        </p:spPr>
        <p:txBody>
          <a:bodyPr>
            <a:noAutofit/>
          </a:bodyPr>
          <a:lstStyle/>
          <a:p>
            <a:r>
              <a:rPr lang="en-US" sz="2600" b="1" dirty="0"/>
              <a:t>PA/EL Systems: </a:t>
            </a:r>
            <a:r>
              <a:rPr lang="en-US" sz="2600" dirty="0"/>
              <a:t>Give up both Cs for availability and lower latency</a:t>
            </a:r>
          </a:p>
          <a:p>
            <a:pPr lvl="1"/>
            <a:r>
              <a:rPr lang="en-US" sz="2600" dirty="0"/>
              <a:t>Dynamo, Cassandra, </a:t>
            </a:r>
            <a:r>
              <a:rPr lang="en-US" sz="2600" dirty="0" err="1"/>
              <a:t>Riak</a:t>
            </a:r>
            <a:endParaRPr lang="en-US" sz="2600" dirty="0"/>
          </a:p>
          <a:p>
            <a:r>
              <a:rPr lang="en-US" sz="2600" b="1" dirty="0"/>
              <a:t>PC/EC Systems: </a:t>
            </a:r>
            <a:r>
              <a:rPr lang="en-US" sz="2600" dirty="0"/>
              <a:t>Refuse to give up consistency and pay the cost of availability and latency</a:t>
            </a:r>
          </a:p>
          <a:p>
            <a:pPr lvl="1"/>
            <a:r>
              <a:rPr lang="en-US" sz="2600" dirty="0" err="1"/>
              <a:t>BigTable</a:t>
            </a:r>
            <a:r>
              <a:rPr lang="en-US" sz="2600" dirty="0"/>
              <a:t>, </a:t>
            </a:r>
            <a:r>
              <a:rPr lang="en-US" sz="2600" dirty="0" err="1"/>
              <a:t>Hbase</a:t>
            </a:r>
            <a:r>
              <a:rPr lang="en-US" sz="2600" dirty="0"/>
              <a:t>, </a:t>
            </a:r>
            <a:r>
              <a:rPr lang="en-US" sz="2600" dirty="0" err="1"/>
              <a:t>VoltDB</a:t>
            </a:r>
            <a:r>
              <a:rPr lang="en-US" sz="2600" dirty="0"/>
              <a:t>/H-Store</a:t>
            </a:r>
            <a:endParaRPr lang="en-US" sz="2600" b="1" dirty="0"/>
          </a:p>
          <a:p>
            <a:r>
              <a:rPr lang="en-US" sz="2600" b="1" dirty="0"/>
              <a:t>PA/EC Systems: </a:t>
            </a:r>
            <a:r>
              <a:rPr lang="en-US" sz="2600" dirty="0"/>
              <a:t>Give up consistency when a partition happens and keep consistency in normal operations</a:t>
            </a:r>
          </a:p>
          <a:p>
            <a:pPr lvl="1"/>
            <a:r>
              <a:rPr lang="en-US" sz="2600" dirty="0" err="1"/>
              <a:t>MongoDB</a:t>
            </a:r>
            <a:endParaRPr lang="en-US" sz="2600" dirty="0"/>
          </a:p>
          <a:p>
            <a:r>
              <a:rPr lang="en-US" sz="2600" b="1" dirty="0"/>
              <a:t>PC/EL System: </a:t>
            </a:r>
            <a:r>
              <a:rPr lang="en-US" sz="2600" dirty="0"/>
              <a:t>Keep consistency if a partition occurs but gives up consistency for latency in normal operations</a:t>
            </a:r>
          </a:p>
          <a:p>
            <a:pPr lvl="1"/>
            <a:r>
              <a:rPr lang="en-US" sz="2600" dirty="0"/>
              <a:t>Yahoo! PNUTS</a:t>
            </a:r>
          </a:p>
        </p:txBody>
      </p:sp>
    </p:spTree>
    <p:extLst>
      <p:ext uri="{BB962C8B-B14F-4D97-AF65-F5344CB8AC3E}">
        <p14:creationId xmlns:p14="http://schemas.microsoft.com/office/powerpoint/2010/main" val="5119013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/>
          <a:lstStyle/>
          <a:p>
            <a:r>
              <a:rPr lang="en-US" dirty="0"/>
              <a:t>Types of NoSQL Databases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458200" cy="52578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800" dirty="0"/>
              <a:t>Here is a limited taxonomy of NoSQL databases:</a:t>
            </a:r>
            <a:endParaRPr lang="en-US" sz="2600" dirty="0">
              <a:solidFill>
                <a:srgbClr val="0070C0"/>
              </a:solidFill>
            </a:endParaRPr>
          </a:p>
          <a:p>
            <a:pPr lvl="2">
              <a:buFont typeface="Wingdings" pitchFamily="2" charset="2"/>
              <a:buChar char="§"/>
            </a:pPr>
            <a:endParaRPr lang="en-US" sz="1800" dirty="0"/>
          </a:p>
          <a:p>
            <a:pPr lvl="1">
              <a:buFont typeface="Wingdings" pitchFamily="2" charset="2"/>
              <a:buChar char="§"/>
            </a:pPr>
            <a:endParaRPr lang="en-US" sz="1800" dirty="0"/>
          </a:p>
        </p:txBody>
      </p:sp>
      <p:sp>
        <p:nvSpPr>
          <p:cNvPr id="5" name="Rounded Rectangle 4"/>
          <p:cNvSpPr/>
          <p:nvPr/>
        </p:nvSpPr>
        <p:spPr>
          <a:xfrm>
            <a:off x="2829374" y="2438400"/>
            <a:ext cx="3276600" cy="1066800"/>
          </a:xfrm>
          <a:prstGeom prst="round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/>
              <a:t>NoSQL Databases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" y="4267200"/>
            <a:ext cx="2057400" cy="9906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Document Stores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38400" y="4267200"/>
            <a:ext cx="2057400" cy="9906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Graph Databases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38230" y="4248684"/>
            <a:ext cx="2050279" cy="9906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Key-Value Stores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41620" y="4248684"/>
            <a:ext cx="2050279" cy="9906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Columnar Databases</a:t>
            </a:r>
          </a:p>
        </p:txBody>
      </p:sp>
      <p:cxnSp>
        <p:nvCxnSpPr>
          <p:cNvPr id="11" name="Straight Arrow Connector 10"/>
          <p:cNvCxnSpPr>
            <a:stCxn id="5" idx="2"/>
            <a:endCxn id="6" idx="0"/>
          </p:cNvCxnSpPr>
          <p:nvPr/>
        </p:nvCxnSpPr>
        <p:spPr>
          <a:xfrm flipH="1">
            <a:off x="1257300" y="3505200"/>
            <a:ext cx="3210374" cy="7620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5" idx="2"/>
            <a:endCxn id="7" idx="0"/>
          </p:cNvCxnSpPr>
          <p:nvPr/>
        </p:nvCxnSpPr>
        <p:spPr>
          <a:xfrm flipH="1">
            <a:off x="3467100" y="3505200"/>
            <a:ext cx="1000574" cy="7620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5" idx="2"/>
            <a:endCxn id="8" idx="0"/>
          </p:cNvCxnSpPr>
          <p:nvPr/>
        </p:nvCxnSpPr>
        <p:spPr>
          <a:xfrm>
            <a:off x="4467674" y="3505200"/>
            <a:ext cx="1195696" cy="743484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5" idx="2"/>
            <a:endCxn id="9" idx="0"/>
          </p:cNvCxnSpPr>
          <p:nvPr/>
        </p:nvCxnSpPr>
        <p:spPr>
          <a:xfrm>
            <a:off x="4467674" y="3505200"/>
            <a:ext cx="3399086" cy="743484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Up Arrow 17"/>
          <p:cNvSpPr/>
          <p:nvPr/>
        </p:nvSpPr>
        <p:spPr>
          <a:xfrm>
            <a:off x="796539" y="5511326"/>
            <a:ext cx="762000" cy="762000"/>
          </a:xfrm>
          <a:prstGeom prst="upArrow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455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/>
          <a:lstStyle/>
          <a:p>
            <a:r>
              <a:rPr lang="en-US" dirty="0"/>
              <a:t>Document Stores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458200" cy="52578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800" dirty="0"/>
              <a:t>Documents are stored in some standard format or encoding (e.g., XML, JSON, PDF or Office Documents)</a:t>
            </a:r>
          </a:p>
          <a:p>
            <a:pPr lvl="1">
              <a:buFont typeface="Wingdings" pitchFamily="2" charset="2"/>
              <a:buChar char="§"/>
            </a:pPr>
            <a:r>
              <a:rPr lang="en-US" sz="2600" dirty="0"/>
              <a:t>These are typically referred to as Binary Large Objects (BLOBs)</a:t>
            </a:r>
          </a:p>
          <a:p>
            <a:pPr lvl="1">
              <a:buFont typeface="Wingdings" pitchFamily="2" charset="2"/>
              <a:buChar char="§"/>
            </a:pPr>
            <a:endParaRPr lang="en-US" sz="2600" dirty="0"/>
          </a:p>
          <a:p>
            <a:pPr>
              <a:buFont typeface="Wingdings" pitchFamily="2" charset="2"/>
              <a:buChar char="§"/>
            </a:pPr>
            <a:r>
              <a:rPr lang="en-US" sz="2800" dirty="0"/>
              <a:t>Documents can be indexed</a:t>
            </a:r>
          </a:p>
          <a:p>
            <a:pPr lvl="1">
              <a:buFont typeface="Wingdings" pitchFamily="2" charset="2"/>
              <a:buChar char="§"/>
            </a:pPr>
            <a:r>
              <a:rPr lang="en-US" sz="2600" dirty="0"/>
              <a:t>This allows document stores to outperform traditional file systems</a:t>
            </a:r>
          </a:p>
          <a:p>
            <a:pPr lvl="1">
              <a:buFont typeface="Wingdings" pitchFamily="2" charset="2"/>
              <a:buChar char="§"/>
            </a:pPr>
            <a:endParaRPr lang="en-US" sz="2600" dirty="0"/>
          </a:p>
          <a:p>
            <a:pPr>
              <a:buFont typeface="Wingdings" pitchFamily="2" charset="2"/>
              <a:buChar char="§"/>
            </a:pPr>
            <a:r>
              <a:rPr lang="en-US" sz="2800" dirty="0"/>
              <a:t>E.g., MongoDB and CouchDB (both can be queried using </a:t>
            </a:r>
            <a:r>
              <a:rPr lang="en-US" sz="2800" dirty="0" err="1"/>
              <a:t>MapReduce</a:t>
            </a:r>
            <a:r>
              <a:rPr lang="en-US" sz="2800" dirty="0"/>
              <a:t>)</a:t>
            </a:r>
          </a:p>
          <a:p>
            <a:pPr lvl="2">
              <a:buFont typeface="Wingdings" pitchFamily="2" charset="2"/>
              <a:buChar char="§"/>
            </a:pPr>
            <a:endParaRPr lang="en-US" sz="1800" dirty="0"/>
          </a:p>
          <a:p>
            <a:pPr lvl="1">
              <a:buFont typeface="Wingdings" pitchFamily="2" charset="2"/>
              <a:buChar char="§"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297164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/>
          <a:lstStyle/>
          <a:p>
            <a:r>
              <a:rPr lang="en-US" dirty="0"/>
              <a:t>Types of NoSQL Databases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458200" cy="52578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800" dirty="0"/>
              <a:t>Here is a limited taxonomy of NoSQL databases:</a:t>
            </a:r>
            <a:endParaRPr lang="en-US" sz="2600" dirty="0">
              <a:solidFill>
                <a:srgbClr val="0070C0"/>
              </a:solidFill>
            </a:endParaRPr>
          </a:p>
          <a:p>
            <a:pPr lvl="2">
              <a:buFont typeface="Wingdings" pitchFamily="2" charset="2"/>
              <a:buChar char="§"/>
            </a:pPr>
            <a:endParaRPr lang="en-US" sz="1800" dirty="0"/>
          </a:p>
          <a:p>
            <a:pPr lvl="1">
              <a:buFont typeface="Wingdings" pitchFamily="2" charset="2"/>
              <a:buChar char="§"/>
            </a:pPr>
            <a:endParaRPr lang="en-US" sz="1800" dirty="0"/>
          </a:p>
        </p:txBody>
      </p:sp>
      <p:sp>
        <p:nvSpPr>
          <p:cNvPr id="5" name="Rounded Rectangle 4"/>
          <p:cNvSpPr/>
          <p:nvPr/>
        </p:nvSpPr>
        <p:spPr>
          <a:xfrm>
            <a:off x="2829374" y="2438400"/>
            <a:ext cx="3276600" cy="1066800"/>
          </a:xfrm>
          <a:prstGeom prst="round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/>
              <a:t>NoSQL Databases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" y="4267200"/>
            <a:ext cx="2057400" cy="9906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Document Stores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38400" y="4267200"/>
            <a:ext cx="2057400" cy="9906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Graph Databases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38230" y="4248684"/>
            <a:ext cx="2050279" cy="9906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Key-Value Stores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41620" y="4248684"/>
            <a:ext cx="2050279" cy="9906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Columnar Databases</a:t>
            </a:r>
          </a:p>
        </p:txBody>
      </p:sp>
      <p:cxnSp>
        <p:nvCxnSpPr>
          <p:cNvPr id="11" name="Straight Arrow Connector 10"/>
          <p:cNvCxnSpPr>
            <a:stCxn id="5" idx="2"/>
            <a:endCxn id="6" idx="0"/>
          </p:cNvCxnSpPr>
          <p:nvPr/>
        </p:nvCxnSpPr>
        <p:spPr>
          <a:xfrm flipH="1">
            <a:off x="1257300" y="3505200"/>
            <a:ext cx="3210374" cy="7620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5" idx="2"/>
            <a:endCxn id="7" idx="0"/>
          </p:cNvCxnSpPr>
          <p:nvPr/>
        </p:nvCxnSpPr>
        <p:spPr>
          <a:xfrm flipH="1">
            <a:off x="3467100" y="3505200"/>
            <a:ext cx="1000574" cy="7620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5" idx="2"/>
            <a:endCxn id="8" idx="0"/>
          </p:cNvCxnSpPr>
          <p:nvPr/>
        </p:nvCxnSpPr>
        <p:spPr>
          <a:xfrm>
            <a:off x="4467674" y="3505200"/>
            <a:ext cx="1195696" cy="743484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5" idx="2"/>
            <a:endCxn id="9" idx="0"/>
          </p:cNvCxnSpPr>
          <p:nvPr/>
        </p:nvCxnSpPr>
        <p:spPr>
          <a:xfrm>
            <a:off x="4467674" y="3505200"/>
            <a:ext cx="3399086" cy="743484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Up Arrow 17"/>
          <p:cNvSpPr/>
          <p:nvPr/>
        </p:nvSpPr>
        <p:spPr>
          <a:xfrm>
            <a:off x="3086100" y="5511326"/>
            <a:ext cx="762000" cy="762000"/>
          </a:xfrm>
          <a:prstGeom prst="upArrow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556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r>
              <a:rPr lang="en-US" dirty="0"/>
              <a:t>Graph Databases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458200" cy="5715000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itchFamily="2" charset="2"/>
              <a:buChar char="§"/>
            </a:pPr>
            <a:r>
              <a:rPr lang="en-US" sz="2600" dirty="0"/>
              <a:t>Data are represented as vertices and edges</a:t>
            </a:r>
          </a:p>
          <a:p>
            <a:pPr>
              <a:buFont typeface="Wingdings" pitchFamily="2" charset="2"/>
              <a:buChar char="§"/>
            </a:pPr>
            <a:endParaRPr lang="en-US" sz="2600" dirty="0"/>
          </a:p>
          <a:p>
            <a:pPr>
              <a:buFont typeface="Wingdings" pitchFamily="2" charset="2"/>
              <a:buChar char="§"/>
            </a:pPr>
            <a:endParaRPr lang="en-US" sz="2600" dirty="0"/>
          </a:p>
          <a:p>
            <a:pPr>
              <a:buFont typeface="Wingdings" pitchFamily="2" charset="2"/>
              <a:buChar char="§"/>
            </a:pPr>
            <a:endParaRPr lang="en-US" sz="2600" dirty="0"/>
          </a:p>
          <a:p>
            <a:pPr>
              <a:buFont typeface="Wingdings" pitchFamily="2" charset="2"/>
              <a:buChar char="§"/>
            </a:pPr>
            <a:endParaRPr lang="en-US" sz="2600" dirty="0"/>
          </a:p>
          <a:p>
            <a:pPr>
              <a:buFont typeface="Wingdings" pitchFamily="2" charset="2"/>
              <a:buChar char="§"/>
            </a:pPr>
            <a:endParaRPr lang="en-US" sz="2600" dirty="0"/>
          </a:p>
          <a:p>
            <a:pPr>
              <a:buFont typeface="Wingdings" pitchFamily="2" charset="2"/>
              <a:buChar char="§"/>
            </a:pPr>
            <a:endParaRPr lang="en-US" sz="2600" dirty="0"/>
          </a:p>
          <a:p>
            <a:pPr>
              <a:buFont typeface="Wingdings" pitchFamily="2" charset="2"/>
              <a:buChar char="§"/>
            </a:pPr>
            <a:endParaRPr lang="en-US" sz="2600" dirty="0"/>
          </a:p>
          <a:p>
            <a:pPr>
              <a:buFont typeface="Wingdings" pitchFamily="2" charset="2"/>
              <a:buChar char="§"/>
            </a:pPr>
            <a:endParaRPr lang="en-US" sz="2600" dirty="0"/>
          </a:p>
          <a:p>
            <a:pPr>
              <a:buFont typeface="Wingdings" pitchFamily="2" charset="2"/>
              <a:buChar char="§"/>
            </a:pPr>
            <a:endParaRPr lang="en-US" sz="2600" dirty="0"/>
          </a:p>
          <a:p>
            <a:pPr>
              <a:buFont typeface="Wingdings" pitchFamily="2" charset="2"/>
              <a:buChar char="§"/>
            </a:pPr>
            <a:r>
              <a:rPr lang="en-US" sz="2600" dirty="0"/>
              <a:t>Graph databases are powerful for graph-like queries (e.g., find the shortest path between two elements)</a:t>
            </a:r>
          </a:p>
          <a:p>
            <a:pPr>
              <a:buFont typeface="Wingdings" pitchFamily="2" charset="2"/>
              <a:buChar char="§"/>
            </a:pPr>
            <a:endParaRPr lang="en-US" sz="2600" dirty="0"/>
          </a:p>
          <a:p>
            <a:pPr>
              <a:buFont typeface="Wingdings" pitchFamily="2" charset="2"/>
              <a:buChar char="§"/>
            </a:pPr>
            <a:r>
              <a:rPr lang="en-US" sz="2600" dirty="0"/>
              <a:t>E.g., Neo4j and </a:t>
            </a:r>
            <a:r>
              <a:rPr lang="en-US" sz="2600" dirty="0" err="1"/>
              <a:t>VertexDB</a:t>
            </a:r>
            <a:endParaRPr lang="en-US" sz="2600" dirty="0"/>
          </a:p>
          <a:p>
            <a:pPr lvl="1">
              <a:buFont typeface="Wingdings" pitchFamily="2" charset="2"/>
              <a:buChar char="§"/>
            </a:pPr>
            <a:endParaRPr lang="en-US" sz="2400" dirty="0"/>
          </a:p>
          <a:p>
            <a:pPr lvl="2">
              <a:buFont typeface="Wingdings" pitchFamily="2" charset="2"/>
              <a:buChar char="§"/>
            </a:pPr>
            <a:endParaRPr lang="en-US" sz="1800" dirty="0"/>
          </a:p>
          <a:p>
            <a:pPr lvl="1">
              <a:buFont typeface="Wingdings" pitchFamily="2" charset="2"/>
              <a:buChar char="§"/>
            </a:pPr>
            <a:endParaRPr lang="en-US" sz="1800" dirty="0"/>
          </a:p>
        </p:txBody>
      </p:sp>
      <p:sp>
        <p:nvSpPr>
          <p:cNvPr id="4" name="Oval 3"/>
          <p:cNvSpPr/>
          <p:nvPr/>
        </p:nvSpPr>
        <p:spPr>
          <a:xfrm>
            <a:off x="2118612" y="2705925"/>
            <a:ext cx="1143000" cy="11430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Id: 1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Name: Alice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Age: 18</a:t>
            </a:r>
          </a:p>
        </p:txBody>
      </p:sp>
      <p:sp>
        <p:nvSpPr>
          <p:cNvPr id="5" name="Oval 4"/>
          <p:cNvSpPr/>
          <p:nvPr/>
        </p:nvSpPr>
        <p:spPr>
          <a:xfrm>
            <a:off x="5014212" y="1597820"/>
            <a:ext cx="1143000" cy="11430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Id: 2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Name: Bob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Age: 22</a:t>
            </a:r>
          </a:p>
        </p:txBody>
      </p:sp>
      <p:sp>
        <p:nvSpPr>
          <p:cNvPr id="6" name="Oval 5"/>
          <p:cNvSpPr/>
          <p:nvPr/>
        </p:nvSpPr>
        <p:spPr>
          <a:xfrm>
            <a:off x="4221606" y="3911983"/>
            <a:ext cx="1143000" cy="1143000"/>
          </a:xfrm>
          <a:prstGeom prst="ellipse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dirty="0"/>
              <a:t>Id: 3</a:t>
            </a:r>
          </a:p>
          <a:p>
            <a:pPr algn="ctr"/>
            <a:r>
              <a:rPr lang="en-US" sz="1200" dirty="0"/>
              <a:t>Name: Chess</a:t>
            </a:r>
          </a:p>
          <a:p>
            <a:pPr algn="ctr"/>
            <a:r>
              <a:rPr lang="en-US" sz="1200" dirty="0"/>
              <a:t>Type: Group</a:t>
            </a:r>
          </a:p>
        </p:txBody>
      </p:sp>
      <p:cxnSp>
        <p:nvCxnSpPr>
          <p:cNvPr id="8" name="Curved Connector 7"/>
          <p:cNvCxnSpPr>
            <a:stCxn id="4" idx="7"/>
            <a:endCxn id="5" idx="2"/>
          </p:cNvCxnSpPr>
          <p:nvPr/>
        </p:nvCxnSpPr>
        <p:spPr>
          <a:xfrm rot="5400000" flipH="1" flipV="1">
            <a:off x="3702222" y="1561323"/>
            <a:ext cx="703993" cy="1919988"/>
          </a:xfrm>
          <a:prstGeom prst="curvedConnector2">
            <a:avLst/>
          </a:prstGeom>
          <a:ln w="19050">
            <a:solidFill>
              <a:srgbClr val="2906F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urved Connector 9"/>
          <p:cNvCxnSpPr>
            <a:stCxn id="5" idx="3"/>
            <a:endCxn id="4" idx="6"/>
          </p:cNvCxnSpPr>
          <p:nvPr/>
        </p:nvCxnSpPr>
        <p:spPr>
          <a:xfrm rot="5400000">
            <a:off x="3869610" y="1965434"/>
            <a:ext cx="703993" cy="1919988"/>
          </a:xfrm>
          <a:prstGeom prst="curvedConnector2">
            <a:avLst/>
          </a:prstGeom>
          <a:ln w="19050">
            <a:solidFill>
              <a:srgbClr val="2906F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urved Connector 16"/>
          <p:cNvCxnSpPr>
            <a:stCxn id="4" idx="4"/>
            <a:endCxn id="6" idx="2"/>
          </p:cNvCxnSpPr>
          <p:nvPr/>
        </p:nvCxnSpPr>
        <p:spPr>
          <a:xfrm rot="16200000" flipH="1">
            <a:off x="3138580" y="3400457"/>
            <a:ext cx="634558" cy="1531494"/>
          </a:xfrm>
          <a:prstGeom prst="curvedConnector2">
            <a:avLst/>
          </a:prstGeom>
          <a:ln w="19050">
            <a:solidFill>
              <a:srgbClr val="2906F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urved Connector 22"/>
          <p:cNvCxnSpPr>
            <a:stCxn id="6" idx="1"/>
          </p:cNvCxnSpPr>
          <p:nvPr/>
        </p:nvCxnSpPr>
        <p:spPr>
          <a:xfrm rot="16200000" flipV="1">
            <a:off x="3525820" y="3216197"/>
            <a:ext cx="537755" cy="1188594"/>
          </a:xfrm>
          <a:prstGeom prst="curvedConnector2">
            <a:avLst/>
          </a:prstGeom>
          <a:ln w="19050">
            <a:solidFill>
              <a:srgbClr val="2906F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urved Connector 78"/>
          <p:cNvCxnSpPr>
            <a:stCxn id="5" idx="4"/>
            <a:endCxn id="6" idx="0"/>
          </p:cNvCxnSpPr>
          <p:nvPr/>
        </p:nvCxnSpPr>
        <p:spPr>
          <a:xfrm rot="5400000">
            <a:off x="4603828" y="2930098"/>
            <a:ext cx="1171163" cy="792606"/>
          </a:xfrm>
          <a:prstGeom prst="curvedConnector3">
            <a:avLst/>
          </a:prstGeom>
          <a:ln w="19050">
            <a:solidFill>
              <a:srgbClr val="2906F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urved Connector 80"/>
          <p:cNvCxnSpPr>
            <a:stCxn id="6" idx="7"/>
            <a:endCxn id="5" idx="5"/>
          </p:cNvCxnSpPr>
          <p:nvPr/>
        </p:nvCxnSpPr>
        <p:spPr>
          <a:xfrm rot="5400000" flipH="1" flipV="1">
            <a:off x="4840552" y="2930099"/>
            <a:ext cx="1505939" cy="792606"/>
          </a:xfrm>
          <a:prstGeom prst="curvedConnector3">
            <a:avLst/>
          </a:prstGeom>
          <a:ln w="19050">
            <a:solidFill>
              <a:srgbClr val="2906F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/>
          <p:cNvSpPr txBox="1"/>
          <p:nvPr/>
        </p:nvSpPr>
        <p:spPr>
          <a:xfrm rot="20486742">
            <a:off x="3008911" y="1719958"/>
            <a:ext cx="13372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Id:100</a:t>
            </a:r>
          </a:p>
          <a:p>
            <a:r>
              <a:rPr lang="en-US" sz="1200" dirty="0"/>
              <a:t>Label: knows</a:t>
            </a:r>
          </a:p>
          <a:p>
            <a:r>
              <a:rPr lang="en-US" sz="1200" dirty="0"/>
              <a:t>Since: 2001/10/03</a:t>
            </a:r>
          </a:p>
        </p:txBody>
      </p:sp>
      <p:sp>
        <p:nvSpPr>
          <p:cNvPr id="91" name="TextBox 90"/>
          <p:cNvSpPr txBox="1"/>
          <p:nvPr/>
        </p:nvSpPr>
        <p:spPr>
          <a:xfrm rot="20486742">
            <a:off x="3541395" y="2507111"/>
            <a:ext cx="13372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Id:101</a:t>
            </a:r>
          </a:p>
          <a:p>
            <a:r>
              <a:rPr lang="en-US" sz="1200" dirty="0"/>
              <a:t>Label: knows</a:t>
            </a:r>
          </a:p>
          <a:p>
            <a:r>
              <a:rPr lang="en-US" sz="1200" dirty="0"/>
              <a:t>Since: 2001/10/03</a:t>
            </a:r>
          </a:p>
        </p:txBody>
      </p:sp>
      <p:sp>
        <p:nvSpPr>
          <p:cNvPr id="92" name="TextBox 91"/>
          <p:cNvSpPr txBox="1"/>
          <p:nvPr/>
        </p:nvSpPr>
        <p:spPr>
          <a:xfrm rot="1144732">
            <a:off x="3533429" y="3336421"/>
            <a:ext cx="11919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Id:103</a:t>
            </a:r>
          </a:p>
          <a:p>
            <a:r>
              <a:rPr lang="en-US" sz="1200" dirty="0"/>
              <a:t>Label: Members</a:t>
            </a:r>
          </a:p>
        </p:txBody>
      </p:sp>
      <p:sp>
        <p:nvSpPr>
          <p:cNvPr id="93" name="TextBox 92"/>
          <p:cNvSpPr txBox="1"/>
          <p:nvPr/>
        </p:nvSpPr>
        <p:spPr>
          <a:xfrm rot="19087203">
            <a:off x="5338977" y="3180710"/>
            <a:ext cx="11919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Id:104</a:t>
            </a:r>
          </a:p>
          <a:p>
            <a:r>
              <a:rPr lang="en-US" sz="1200" dirty="0"/>
              <a:t>Label: Members</a:t>
            </a:r>
          </a:p>
        </p:txBody>
      </p:sp>
      <p:sp>
        <p:nvSpPr>
          <p:cNvPr id="94" name="TextBox 93"/>
          <p:cNvSpPr txBox="1"/>
          <p:nvPr/>
        </p:nvSpPr>
        <p:spPr>
          <a:xfrm rot="19046389">
            <a:off x="4252451" y="2789344"/>
            <a:ext cx="13372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Id:105</a:t>
            </a:r>
          </a:p>
          <a:p>
            <a:r>
              <a:rPr lang="en-US" sz="1200" dirty="0"/>
              <a:t>Label: </a:t>
            </a:r>
            <a:r>
              <a:rPr lang="en-US" sz="1200" dirty="0" err="1"/>
              <a:t>is_member</a:t>
            </a:r>
            <a:endParaRPr lang="en-US" sz="1200" dirty="0"/>
          </a:p>
          <a:p>
            <a:r>
              <a:rPr lang="en-US" sz="1200" dirty="0"/>
              <a:t>Since: 2011/02/14</a:t>
            </a:r>
          </a:p>
        </p:txBody>
      </p:sp>
      <p:sp>
        <p:nvSpPr>
          <p:cNvPr id="95" name="TextBox 94"/>
          <p:cNvSpPr txBox="1"/>
          <p:nvPr/>
        </p:nvSpPr>
        <p:spPr>
          <a:xfrm rot="1437996">
            <a:off x="2531785" y="4351880"/>
            <a:ext cx="13372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Id:102</a:t>
            </a:r>
          </a:p>
          <a:p>
            <a:r>
              <a:rPr lang="en-US" sz="1200" dirty="0"/>
              <a:t>Label: </a:t>
            </a:r>
            <a:r>
              <a:rPr lang="en-US" sz="1200" dirty="0" err="1"/>
              <a:t>is_member</a:t>
            </a:r>
            <a:endParaRPr lang="en-US" sz="1200" dirty="0"/>
          </a:p>
          <a:p>
            <a:r>
              <a:rPr lang="en-US" sz="1200" dirty="0"/>
              <a:t>Since: 2005/07/01</a:t>
            </a:r>
          </a:p>
        </p:txBody>
      </p:sp>
    </p:spTree>
    <p:extLst>
      <p:ext uri="{BB962C8B-B14F-4D97-AF65-F5344CB8AC3E}">
        <p14:creationId xmlns:p14="http://schemas.microsoft.com/office/powerpoint/2010/main" val="2668481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90" grpId="0"/>
      <p:bldP spid="91" grpId="0"/>
      <p:bldP spid="92" grpId="0"/>
      <p:bldP spid="93" grpId="0"/>
      <p:bldP spid="94" grpId="0"/>
      <p:bldP spid="9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/>
          <a:lstStyle/>
          <a:p>
            <a:r>
              <a:rPr lang="en-US" dirty="0"/>
              <a:t>Types of NoSQL Databases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458200" cy="52578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800" dirty="0"/>
              <a:t>Here is a limited taxonomy of NoSQL databases:</a:t>
            </a:r>
            <a:endParaRPr lang="en-US" sz="2600" dirty="0">
              <a:solidFill>
                <a:srgbClr val="0070C0"/>
              </a:solidFill>
            </a:endParaRPr>
          </a:p>
          <a:p>
            <a:pPr lvl="2">
              <a:buFont typeface="Wingdings" pitchFamily="2" charset="2"/>
              <a:buChar char="§"/>
            </a:pPr>
            <a:endParaRPr lang="en-US" sz="1800" dirty="0"/>
          </a:p>
          <a:p>
            <a:pPr lvl="1">
              <a:buFont typeface="Wingdings" pitchFamily="2" charset="2"/>
              <a:buChar char="§"/>
            </a:pPr>
            <a:endParaRPr lang="en-US" sz="1800" dirty="0"/>
          </a:p>
        </p:txBody>
      </p:sp>
      <p:sp>
        <p:nvSpPr>
          <p:cNvPr id="5" name="Rounded Rectangle 4"/>
          <p:cNvSpPr/>
          <p:nvPr/>
        </p:nvSpPr>
        <p:spPr>
          <a:xfrm>
            <a:off x="2829374" y="2438400"/>
            <a:ext cx="3276600" cy="1066800"/>
          </a:xfrm>
          <a:prstGeom prst="round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/>
              <a:t>NoSQL Databases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" y="4267200"/>
            <a:ext cx="2057400" cy="9906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Document Stores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38400" y="4267200"/>
            <a:ext cx="2057400" cy="9906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Graph Databases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38230" y="4248684"/>
            <a:ext cx="2050279" cy="9906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Key-Value Stores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41620" y="4248684"/>
            <a:ext cx="2050279" cy="9906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Columnar Databases</a:t>
            </a:r>
          </a:p>
        </p:txBody>
      </p:sp>
      <p:cxnSp>
        <p:nvCxnSpPr>
          <p:cNvPr id="11" name="Straight Arrow Connector 10"/>
          <p:cNvCxnSpPr>
            <a:stCxn id="5" idx="2"/>
            <a:endCxn id="6" idx="0"/>
          </p:cNvCxnSpPr>
          <p:nvPr/>
        </p:nvCxnSpPr>
        <p:spPr>
          <a:xfrm flipH="1">
            <a:off x="1257300" y="3505200"/>
            <a:ext cx="3210374" cy="7620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5" idx="2"/>
            <a:endCxn id="7" idx="0"/>
          </p:cNvCxnSpPr>
          <p:nvPr/>
        </p:nvCxnSpPr>
        <p:spPr>
          <a:xfrm flipH="1">
            <a:off x="3467100" y="3505200"/>
            <a:ext cx="1000574" cy="7620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5" idx="2"/>
            <a:endCxn id="8" idx="0"/>
          </p:cNvCxnSpPr>
          <p:nvPr/>
        </p:nvCxnSpPr>
        <p:spPr>
          <a:xfrm>
            <a:off x="4467674" y="3505200"/>
            <a:ext cx="1195696" cy="743484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5" idx="2"/>
            <a:endCxn id="9" idx="0"/>
          </p:cNvCxnSpPr>
          <p:nvPr/>
        </p:nvCxnSpPr>
        <p:spPr>
          <a:xfrm>
            <a:off x="4467674" y="3505200"/>
            <a:ext cx="3399086" cy="743484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Up Arrow 17"/>
          <p:cNvSpPr/>
          <p:nvPr/>
        </p:nvSpPr>
        <p:spPr>
          <a:xfrm>
            <a:off x="5282369" y="5464325"/>
            <a:ext cx="762000" cy="762000"/>
          </a:xfrm>
          <a:prstGeom prst="upArrow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010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/>
          <a:lstStyle/>
          <a:p>
            <a:r>
              <a:rPr lang="en-US" dirty="0"/>
              <a:t>Key-Value Stores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458200" cy="5257800"/>
          </a:xfrm>
        </p:spPr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§"/>
            </a:pPr>
            <a:r>
              <a:rPr lang="en-US" sz="2800" dirty="0"/>
              <a:t>Keys are mapped to (possibly) more complex value (e.g., lists)</a:t>
            </a:r>
          </a:p>
          <a:p>
            <a:pPr>
              <a:buFont typeface="Wingdings" pitchFamily="2" charset="2"/>
              <a:buChar char="§"/>
            </a:pPr>
            <a:endParaRPr lang="en-US" sz="2800" dirty="0"/>
          </a:p>
          <a:p>
            <a:pPr>
              <a:buFont typeface="Wingdings" pitchFamily="2" charset="2"/>
              <a:buChar char="§"/>
            </a:pPr>
            <a:r>
              <a:rPr lang="en-US" sz="2800" dirty="0"/>
              <a:t>Keys can be stored in a hash table and can be distributed easily</a:t>
            </a:r>
          </a:p>
          <a:p>
            <a:pPr>
              <a:buFont typeface="Wingdings" pitchFamily="2" charset="2"/>
              <a:buChar char="§"/>
            </a:pPr>
            <a:endParaRPr lang="en-US" sz="2800" dirty="0"/>
          </a:p>
          <a:p>
            <a:pPr>
              <a:buFont typeface="Wingdings" pitchFamily="2" charset="2"/>
              <a:buChar char="§"/>
            </a:pPr>
            <a:r>
              <a:rPr lang="en-US" sz="2800" dirty="0"/>
              <a:t>Such stores typically support regular CRUD (create, read, update, and delete) operations</a:t>
            </a:r>
          </a:p>
          <a:p>
            <a:pPr lvl="1">
              <a:buFont typeface="Wingdings" pitchFamily="2" charset="2"/>
              <a:buChar char="§"/>
            </a:pPr>
            <a:r>
              <a:rPr lang="en-US" sz="2600" dirty="0"/>
              <a:t>That is, no joins and aggregate functions</a:t>
            </a:r>
          </a:p>
          <a:p>
            <a:pPr lvl="1">
              <a:buFont typeface="Wingdings" pitchFamily="2" charset="2"/>
              <a:buChar char="§"/>
            </a:pPr>
            <a:endParaRPr lang="en-US" sz="2400" dirty="0"/>
          </a:p>
          <a:p>
            <a:pPr>
              <a:buFont typeface="Wingdings" pitchFamily="2" charset="2"/>
              <a:buChar char="§"/>
            </a:pPr>
            <a:r>
              <a:rPr lang="en-US" sz="2800" dirty="0"/>
              <a:t>E.g., Amazon </a:t>
            </a:r>
            <a:r>
              <a:rPr lang="en-US" sz="2800" dirty="0" err="1"/>
              <a:t>DynamoDB</a:t>
            </a:r>
            <a:r>
              <a:rPr lang="en-US" sz="2800" dirty="0"/>
              <a:t> and Apache Cassandra</a:t>
            </a:r>
          </a:p>
          <a:p>
            <a:pPr>
              <a:buFont typeface="Wingdings" pitchFamily="2" charset="2"/>
              <a:buChar char="§"/>
            </a:pPr>
            <a:endParaRPr lang="en-US" sz="2800" dirty="0"/>
          </a:p>
          <a:p>
            <a:pPr>
              <a:buFont typeface="Wingdings" pitchFamily="2" charset="2"/>
              <a:buChar char="§"/>
            </a:pPr>
            <a:endParaRPr lang="en-US" sz="2800" dirty="0"/>
          </a:p>
          <a:p>
            <a:pPr>
              <a:buFont typeface="Wingdings" pitchFamily="2" charset="2"/>
              <a:buChar char="§"/>
            </a:pPr>
            <a:endParaRPr lang="en-US" sz="2800" dirty="0"/>
          </a:p>
          <a:p>
            <a:pPr>
              <a:buFont typeface="Wingdings" pitchFamily="2" charset="2"/>
              <a:buChar char="§"/>
            </a:pPr>
            <a:endParaRPr lang="en-US" sz="2800" dirty="0"/>
          </a:p>
          <a:p>
            <a:pPr>
              <a:buFont typeface="Wingdings" pitchFamily="2" charset="2"/>
              <a:buChar char="§"/>
            </a:pPr>
            <a:endParaRPr lang="en-US" sz="2800" dirty="0"/>
          </a:p>
          <a:p>
            <a:pPr>
              <a:buFont typeface="Wingdings" pitchFamily="2" charset="2"/>
              <a:buChar char="§"/>
            </a:pPr>
            <a:endParaRPr lang="en-US" sz="2800" dirty="0"/>
          </a:p>
          <a:p>
            <a:pPr>
              <a:buFont typeface="Wingdings" pitchFamily="2" charset="2"/>
              <a:buChar char="§"/>
            </a:pPr>
            <a:endParaRPr lang="en-US" sz="2800" dirty="0"/>
          </a:p>
          <a:p>
            <a:pPr>
              <a:buFont typeface="Wingdings" pitchFamily="2" charset="2"/>
              <a:buChar char="§"/>
            </a:pPr>
            <a:endParaRPr lang="en-US" sz="2800" dirty="0"/>
          </a:p>
          <a:p>
            <a:pPr lvl="1">
              <a:buFont typeface="Wingdings" pitchFamily="2" charset="2"/>
              <a:buChar char="§"/>
            </a:pPr>
            <a:endParaRPr lang="en-US" sz="2400" dirty="0"/>
          </a:p>
          <a:p>
            <a:pPr lvl="2">
              <a:buFont typeface="Wingdings" pitchFamily="2" charset="2"/>
              <a:buChar char="§"/>
            </a:pPr>
            <a:endParaRPr lang="en-US" sz="1800" dirty="0"/>
          </a:p>
          <a:p>
            <a:pPr lvl="1">
              <a:buFont typeface="Wingdings" pitchFamily="2" charset="2"/>
              <a:buChar char="§"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772662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/>
          <a:lstStyle/>
          <a:p>
            <a:r>
              <a:rPr lang="en-US" dirty="0"/>
              <a:t>Types of NoSQL Databases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458200" cy="52578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800" dirty="0"/>
              <a:t>Here is a limited taxonomy of NoSQL databases:</a:t>
            </a:r>
            <a:endParaRPr lang="en-US" sz="2600" dirty="0">
              <a:solidFill>
                <a:srgbClr val="0070C0"/>
              </a:solidFill>
            </a:endParaRPr>
          </a:p>
          <a:p>
            <a:pPr lvl="2">
              <a:buFont typeface="Wingdings" pitchFamily="2" charset="2"/>
              <a:buChar char="§"/>
            </a:pPr>
            <a:endParaRPr lang="en-US" sz="1800" dirty="0"/>
          </a:p>
          <a:p>
            <a:pPr lvl="1">
              <a:buFont typeface="Wingdings" pitchFamily="2" charset="2"/>
              <a:buChar char="§"/>
            </a:pPr>
            <a:endParaRPr lang="en-US" sz="1800" dirty="0"/>
          </a:p>
        </p:txBody>
      </p:sp>
      <p:sp>
        <p:nvSpPr>
          <p:cNvPr id="5" name="Rounded Rectangle 4"/>
          <p:cNvSpPr/>
          <p:nvPr/>
        </p:nvSpPr>
        <p:spPr>
          <a:xfrm>
            <a:off x="2829374" y="2438400"/>
            <a:ext cx="3276600" cy="1066800"/>
          </a:xfrm>
          <a:prstGeom prst="round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/>
              <a:t>NoSQL Databases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" y="4267200"/>
            <a:ext cx="2057400" cy="9906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Document Stores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38400" y="4267200"/>
            <a:ext cx="2057400" cy="9906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Graph Databases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38230" y="4248684"/>
            <a:ext cx="2050279" cy="9906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Key-Value Stores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41620" y="4248684"/>
            <a:ext cx="2050279" cy="9906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Columnar Databases</a:t>
            </a:r>
          </a:p>
        </p:txBody>
      </p:sp>
      <p:cxnSp>
        <p:nvCxnSpPr>
          <p:cNvPr id="11" name="Straight Arrow Connector 10"/>
          <p:cNvCxnSpPr>
            <a:stCxn id="5" idx="2"/>
            <a:endCxn id="6" idx="0"/>
          </p:cNvCxnSpPr>
          <p:nvPr/>
        </p:nvCxnSpPr>
        <p:spPr>
          <a:xfrm flipH="1">
            <a:off x="1257300" y="3505200"/>
            <a:ext cx="3210374" cy="7620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5" idx="2"/>
            <a:endCxn id="7" idx="0"/>
          </p:cNvCxnSpPr>
          <p:nvPr/>
        </p:nvCxnSpPr>
        <p:spPr>
          <a:xfrm flipH="1">
            <a:off x="3467100" y="3505200"/>
            <a:ext cx="1000574" cy="7620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5" idx="2"/>
            <a:endCxn id="8" idx="0"/>
          </p:cNvCxnSpPr>
          <p:nvPr/>
        </p:nvCxnSpPr>
        <p:spPr>
          <a:xfrm>
            <a:off x="4467674" y="3505200"/>
            <a:ext cx="1195696" cy="743484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5" idx="2"/>
            <a:endCxn id="9" idx="0"/>
          </p:cNvCxnSpPr>
          <p:nvPr/>
        </p:nvCxnSpPr>
        <p:spPr>
          <a:xfrm>
            <a:off x="4467674" y="3505200"/>
            <a:ext cx="3399086" cy="743484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Up Arrow 17"/>
          <p:cNvSpPr/>
          <p:nvPr/>
        </p:nvSpPr>
        <p:spPr>
          <a:xfrm>
            <a:off x="7485760" y="5410200"/>
            <a:ext cx="762000" cy="762000"/>
          </a:xfrm>
          <a:prstGeom prst="upArrow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958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r>
              <a:rPr lang="en-US" dirty="0"/>
              <a:t>Columnar Databases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458200" cy="54864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800" dirty="0"/>
              <a:t>Columnar databases are a hybrid of RDBMSs and Key-Value stores</a:t>
            </a:r>
          </a:p>
          <a:p>
            <a:pPr lvl="1">
              <a:buFont typeface="Wingdings" pitchFamily="2" charset="2"/>
              <a:buChar char="§"/>
            </a:pPr>
            <a:r>
              <a:rPr lang="en-US" sz="2400" dirty="0"/>
              <a:t>Values are stored in groups of zero or more columns, but in Column-Order (as opposed to Row-Order)</a:t>
            </a:r>
          </a:p>
          <a:p>
            <a:pPr lvl="1">
              <a:buFont typeface="Wingdings" pitchFamily="2" charset="2"/>
              <a:buChar char="§"/>
            </a:pPr>
            <a:endParaRPr lang="en-US" sz="2400" dirty="0"/>
          </a:p>
          <a:p>
            <a:pPr lvl="1">
              <a:buFont typeface="Wingdings" pitchFamily="2" charset="2"/>
              <a:buChar char="§"/>
            </a:pPr>
            <a:endParaRPr lang="en-US" sz="2400" dirty="0"/>
          </a:p>
          <a:p>
            <a:pPr lvl="1">
              <a:buFont typeface="Wingdings" pitchFamily="2" charset="2"/>
              <a:buChar char="§"/>
            </a:pPr>
            <a:endParaRPr lang="en-US" sz="2400" dirty="0"/>
          </a:p>
          <a:p>
            <a:pPr lvl="1">
              <a:buFont typeface="Wingdings" pitchFamily="2" charset="2"/>
              <a:buChar char="§"/>
            </a:pPr>
            <a:endParaRPr lang="en-US" sz="2400" dirty="0"/>
          </a:p>
          <a:p>
            <a:pPr lvl="1">
              <a:buFont typeface="Wingdings" pitchFamily="2" charset="2"/>
              <a:buChar char="§"/>
            </a:pPr>
            <a:endParaRPr lang="en-US" sz="2400" dirty="0"/>
          </a:p>
          <a:p>
            <a:pPr lvl="1">
              <a:buFont typeface="Wingdings" pitchFamily="2" charset="2"/>
              <a:buChar char="§"/>
            </a:pPr>
            <a:r>
              <a:rPr lang="en-US" sz="2400" dirty="0"/>
              <a:t>Values are queried by matching keys</a:t>
            </a:r>
          </a:p>
          <a:p>
            <a:pPr marL="0" indent="0">
              <a:buNone/>
            </a:pPr>
            <a:endParaRPr lang="en-US" sz="2800" dirty="0"/>
          </a:p>
          <a:p>
            <a:pPr>
              <a:buFont typeface="Wingdings" pitchFamily="2" charset="2"/>
              <a:buChar char="§"/>
            </a:pPr>
            <a:r>
              <a:rPr lang="en-US" sz="2800" dirty="0"/>
              <a:t>E.g., </a:t>
            </a:r>
            <a:r>
              <a:rPr lang="en-US" sz="2800" dirty="0" err="1"/>
              <a:t>HBase</a:t>
            </a:r>
            <a:r>
              <a:rPr lang="en-US" sz="2800" dirty="0"/>
              <a:t> and </a:t>
            </a:r>
            <a:r>
              <a:rPr lang="en-US" sz="2800" dirty="0" err="1"/>
              <a:t>Vertica</a:t>
            </a:r>
            <a:endParaRPr lang="en-US" sz="2800" dirty="0"/>
          </a:p>
          <a:p>
            <a:pPr>
              <a:buFont typeface="Wingdings" pitchFamily="2" charset="2"/>
              <a:buChar char="§"/>
            </a:pPr>
            <a:endParaRPr lang="en-US" sz="2800" dirty="0"/>
          </a:p>
          <a:p>
            <a:pPr>
              <a:buFont typeface="Wingdings" pitchFamily="2" charset="2"/>
              <a:buChar char="§"/>
            </a:pPr>
            <a:endParaRPr lang="en-US" sz="2800" dirty="0"/>
          </a:p>
          <a:p>
            <a:pPr>
              <a:buFont typeface="Wingdings" pitchFamily="2" charset="2"/>
              <a:buChar char="§"/>
            </a:pPr>
            <a:endParaRPr lang="en-US" sz="2800" dirty="0"/>
          </a:p>
          <a:p>
            <a:pPr>
              <a:buFont typeface="Wingdings" pitchFamily="2" charset="2"/>
              <a:buChar char="§"/>
            </a:pPr>
            <a:endParaRPr lang="en-US" sz="2800" dirty="0"/>
          </a:p>
          <a:p>
            <a:pPr>
              <a:buFont typeface="Wingdings" pitchFamily="2" charset="2"/>
              <a:buChar char="§"/>
            </a:pPr>
            <a:endParaRPr lang="en-US" sz="2800" dirty="0"/>
          </a:p>
          <a:p>
            <a:pPr>
              <a:buFont typeface="Wingdings" pitchFamily="2" charset="2"/>
              <a:buChar char="§"/>
            </a:pPr>
            <a:endParaRPr lang="en-US" sz="2800" dirty="0"/>
          </a:p>
          <a:p>
            <a:pPr lvl="1">
              <a:buFont typeface="Wingdings" pitchFamily="2" charset="2"/>
              <a:buChar char="§"/>
            </a:pPr>
            <a:endParaRPr lang="en-US" sz="2400" dirty="0"/>
          </a:p>
          <a:p>
            <a:pPr lvl="2">
              <a:buFont typeface="Wingdings" pitchFamily="2" charset="2"/>
              <a:buChar char="§"/>
            </a:pPr>
            <a:endParaRPr lang="en-US" sz="1800" dirty="0"/>
          </a:p>
          <a:p>
            <a:pPr lvl="1">
              <a:buFont typeface="Wingdings" pitchFamily="2" charset="2"/>
              <a:buChar char="§"/>
            </a:pPr>
            <a:endParaRPr lang="en-US" sz="1800" dirty="0"/>
          </a:p>
        </p:txBody>
      </p:sp>
      <p:sp>
        <p:nvSpPr>
          <p:cNvPr id="4" name="Rectangle 3"/>
          <p:cNvSpPr/>
          <p:nvPr/>
        </p:nvSpPr>
        <p:spPr>
          <a:xfrm>
            <a:off x="309785" y="3545210"/>
            <a:ext cx="833215" cy="228600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Alice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" y="3538444"/>
            <a:ext cx="524854" cy="228600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1672127" y="3545210"/>
            <a:ext cx="524854" cy="228600"/>
          </a:xfrm>
          <a:prstGeom prst="rect">
            <a:avLst/>
          </a:prstGeom>
          <a:solidFill>
            <a:srgbClr val="2906FA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25</a:t>
            </a:r>
          </a:p>
        </p:txBody>
      </p:sp>
      <p:sp>
        <p:nvSpPr>
          <p:cNvPr id="7" name="Rectangle 6"/>
          <p:cNvSpPr/>
          <p:nvPr/>
        </p:nvSpPr>
        <p:spPr>
          <a:xfrm>
            <a:off x="2209800" y="3545210"/>
            <a:ext cx="832104" cy="228600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Bob</a:t>
            </a:r>
          </a:p>
        </p:txBody>
      </p:sp>
      <p:sp>
        <p:nvSpPr>
          <p:cNvPr id="8" name="Rectangle 7"/>
          <p:cNvSpPr/>
          <p:nvPr/>
        </p:nvSpPr>
        <p:spPr>
          <a:xfrm>
            <a:off x="304800" y="3791969"/>
            <a:ext cx="524854" cy="228600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4</a:t>
            </a:r>
          </a:p>
        </p:txBody>
      </p:sp>
      <p:sp>
        <p:nvSpPr>
          <p:cNvPr id="9" name="Rectangle 8"/>
          <p:cNvSpPr/>
          <p:nvPr/>
        </p:nvSpPr>
        <p:spPr>
          <a:xfrm>
            <a:off x="843185" y="3790902"/>
            <a:ext cx="524854" cy="228600"/>
          </a:xfrm>
          <a:prstGeom prst="rect">
            <a:avLst/>
          </a:prstGeom>
          <a:solidFill>
            <a:srgbClr val="2906FA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19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6585" y="3789122"/>
            <a:ext cx="832104" cy="228600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Carol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18346" y="3782356"/>
            <a:ext cx="524854" cy="228600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9785" y="4041578"/>
            <a:ext cx="524854" cy="228600"/>
          </a:xfrm>
          <a:prstGeom prst="rect">
            <a:avLst/>
          </a:prstGeom>
          <a:solidFill>
            <a:srgbClr val="2906FA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45</a:t>
            </a:r>
          </a:p>
        </p:txBody>
      </p:sp>
      <p:sp>
        <p:nvSpPr>
          <p:cNvPr id="13" name="Left Bracket 12"/>
          <p:cNvSpPr/>
          <p:nvPr/>
        </p:nvSpPr>
        <p:spPr>
          <a:xfrm rot="5400000">
            <a:off x="1229348" y="2546954"/>
            <a:ext cx="57328" cy="1903576"/>
          </a:xfrm>
          <a:prstGeom prst="leftBracket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909529" y="3143429"/>
            <a:ext cx="8329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Record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0181" y="4586646"/>
            <a:ext cx="12305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Row-Order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53821" y="3528118"/>
            <a:ext cx="832104" cy="228600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Alice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53821" y="3773810"/>
            <a:ext cx="524854" cy="228600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50461" y="3773098"/>
            <a:ext cx="524854" cy="228600"/>
          </a:xfrm>
          <a:prstGeom prst="rect">
            <a:avLst/>
          </a:prstGeom>
          <a:solidFill>
            <a:srgbClr val="2906FA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25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88459" y="3528118"/>
            <a:ext cx="832104" cy="228600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Bob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99327" y="3773810"/>
            <a:ext cx="524854" cy="228600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50259" y="4022706"/>
            <a:ext cx="524854" cy="228600"/>
          </a:xfrm>
          <a:prstGeom prst="rect">
            <a:avLst/>
          </a:prstGeom>
          <a:solidFill>
            <a:srgbClr val="2906FA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19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6659" y="3527406"/>
            <a:ext cx="832104" cy="228600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Carol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24181" y="3773810"/>
            <a:ext cx="524854" cy="228600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90070" y="4022706"/>
            <a:ext cx="524854" cy="228600"/>
          </a:xfrm>
          <a:prstGeom prst="rect">
            <a:avLst/>
          </a:prstGeom>
          <a:solidFill>
            <a:srgbClr val="2906FA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45</a:t>
            </a:r>
          </a:p>
        </p:txBody>
      </p:sp>
      <p:sp>
        <p:nvSpPr>
          <p:cNvPr id="25" name="Left Bracket 24"/>
          <p:cNvSpPr/>
          <p:nvPr/>
        </p:nvSpPr>
        <p:spPr>
          <a:xfrm rot="5400000">
            <a:off x="4565344" y="2216895"/>
            <a:ext cx="78334" cy="2508503"/>
          </a:xfrm>
          <a:prstGeom prst="leftBracket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4305267" y="3126338"/>
            <a:ext cx="9076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Column 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75008" y="4569554"/>
            <a:ext cx="29209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Columnar (or Column-Order)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51962" y="3525981"/>
            <a:ext cx="832104" cy="228600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Alice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51962" y="3771673"/>
            <a:ext cx="524854" cy="228600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776816" y="3779863"/>
            <a:ext cx="524854" cy="228600"/>
          </a:xfrm>
          <a:prstGeom prst="rect">
            <a:avLst/>
          </a:prstGeom>
          <a:solidFill>
            <a:srgbClr val="2906FA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25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086600" y="3525981"/>
            <a:ext cx="832104" cy="228600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Bob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8049" y="3778301"/>
            <a:ext cx="524854" cy="228600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862131" y="3771673"/>
            <a:ext cx="524854" cy="228600"/>
          </a:xfrm>
          <a:prstGeom prst="rect">
            <a:avLst/>
          </a:prstGeom>
          <a:solidFill>
            <a:srgbClr val="2906FA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19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924800" y="3525269"/>
            <a:ext cx="832104" cy="228600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Carol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43416" y="4026268"/>
            <a:ext cx="524854" cy="228600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785362" y="4020925"/>
            <a:ext cx="524854" cy="228600"/>
          </a:xfrm>
          <a:prstGeom prst="rect">
            <a:avLst/>
          </a:prstGeom>
          <a:solidFill>
            <a:srgbClr val="2906FA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45</a:t>
            </a:r>
          </a:p>
        </p:txBody>
      </p:sp>
      <p:sp>
        <p:nvSpPr>
          <p:cNvPr id="37" name="Left Bracket 36"/>
          <p:cNvSpPr/>
          <p:nvPr/>
        </p:nvSpPr>
        <p:spPr>
          <a:xfrm rot="5400000">
            <a:off x="7464553" y="2215826"/>
            <a:ext cx="76197" cy="2508503"/>
          </a:xfrm>
          <a:prstGeom prst="leftBracket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/>
          <p:cNvSpPr txBox="1"/>
          <p:nvPr/>
        </p:nvSpPr>
        <p:spPr>
          <a:xfrm>
            <a:off x="6073149" y="4567417"/>
            <a:ext cx="31248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Columnar with Locality Groups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35020" y="3124200"/>
            <a:ext cx="16909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Column A = Group 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31278" y="4315627"/>
            <a:ext cx="17292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Column Family {B, C}</a:t>
            </a:r>
          </a:p>
        </p:txBody>
      </p:sp>
      <p:sp>
        <p:nvSpPr>
          <p:cNvPr id="41" name="Left Bracket 40"/>
          <p:cNvSpPr/>
          <p:nvPr/>
        </p:nvSpPr>
        <p:spPr>
          <a:xfrm rot="16200000">
            <a:off x="7274782" y="3218162"/>
            <a:ext cx="119788" cy="2182514"/>
          </a:xfrm>
          <a:prstGeom prst="leftBracket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573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/>
      <p:bldP spid="15" grpId="0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/>
      <p:bldP spid="27" grpId="0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/>
      <p:bldP spid="39" grpId="0"/>
      <p:bldP spid="40" grpId="0"/>
      <p:bldP spid="41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382000" cy="1143000"/>
          </a:xfrm>
        </p:spPr>
        <p:txBody>
          <a:bodyPr>
            <a:normAutofit/>
          </a:bodyPr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178" y="1371600"/>
            <a:ext cx="8670422" cy="53340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dirty="0"/>
              <a:t>The </a:t>
            </a:r>
            <a:r>
              <a:rPr lang="en-US" i="1" dirty="0">
                <a:solidFill>
                  <a:srgbClr val="C00000"/>
                </a:solidFill>
              </a:rPr>
              <a:t>CAP theorem </a:t>
            </a:r>
            <a:r>
              <a:rPr lang="en-US" dirty="0"/>
              <a:t>states that any distributed database with shared data can have at most two of the three desirable properties:</a:t>
            </a:r>
          </a:p>
          <a:p>
            <a:pPr lvl="1">
              <a:buFont typeface="Wingdings" pitchFamily="2" charset="2"/>
              <a:buChar char="§"/>
            </a:pPr>
            <a:r>
              <a:rPr lang="en-US" b="1" u="sng" dirty="0">
                <a:solidFill>
                  <a:srgbClr val="C00000"/>
                </a:solidFill>
              </a:rPr>
              <a:t>C</a:t>
            </a:r>
            <a:r>
              <a:rPr lang="en-US" dirty="0">
                <a:solidFill>
                  <a:srgbClr val="C00000"/>
                </a:solidFill>
              </a:rPr>
              <a:t>onsistency</a:t>
            </a:r>
          </a:p>
          <a:p>
            <a:pPr lvl="1">
              <a:buFont typeface="Wingdings" pitchFamily="2" charset="2"/>
              <a:buChar char="§"/>
            </a:pPr>
            <a:r>
              <a:rPr lang="en-US" b="1" u="sng" dirty="0">
                <a:solidFill>
                  <a:srgbClr val="C00000"/>
                </a:solidFill>
              </a:rPr>
              <a:t>A</a:t>
            </a:r>
            <a:r>
              <a:rPr lang="en-US" dirty="0">
                <a:solidFill>
                  <a:srgbClr val="C00000"/>
                </a:solidFill>
              </a:rPr>
              <a:t>vailability </a:t>
            </a:r>
          </a:p>
          <a:p>
            <a:pPr lvl="1">
              <a:buFont typeface="Wingdings" pitchFamily="2" charset="2"/>
              <a:buChar char="§"/>
            </a:pPr>
            <a:r>
              <a:rPr lang="en-US" b="1" u="sng" dirty="0">
                <a:solidFill>
                  <a:srgbClr val="C00000"/>
                </a:solidFill>
              </a:rPr>
              <a:t>P</a:t>
            </a:r>
            <a:r>
              <a:rPr lang="en-US" dirty="0">
                <a:solidFill>
                  <a:srgbClr val="C00000"/>
                </a:solidFill>
              </a:rPr>
              <a:t>artition Tolerance</a:t>
            </a:r>
          </a:p>
          <a:p>
            <a:pPr>
              <a:buFont typeface="Wingdings" pitchFamily="2" charset="2"/>
              <a:buChar char="§"/>
            </a:pPr>
            <a:endParaRPr lang="en-US" dirty="0"/>
          </a:p>
          <a:p>
            <a:pPr>
              <a:buFont typeface="Wingdings" pitchFamily="2" charset="2"/>
              <a:buChar char="§"/>
            </a:pPr>
            <a:r>
              <a:rPr lang="en-US" dirty="0"/>
              <a:t>The CAP theorem leads to various designs of databases with </a:t>
            </a:r>
            <a:r>
              <a:rPr lang="en-US" i="1" dirty="0"/>
              <a:t>relaxed</a:t>
            </a:r>
            <a:r>
              <a:rPr lang="en-US" dirty="0"/>
              <a:t> ACID guarantees </a:t>
            </a:r>
          </a:p>
          <a:p>
            <a:pPr lvl="1">
              <a:buFont typeface="Wingdings" pitchFamily="2" charset="2"/>
              <a:buChar char="§"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947962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382000" cy="1143000"/>
          </a:xfrm>
        </p:spPr>
        <p:txBody>
          <a:bodyPr>
            <a:normAutofit/>
          </a:bodyPr>
          <a:lstStyle/>
          <a:p>
            <a:r>
              <a:rPr lang="en-US" dirty="0"/>
              <a:t>Summary (</a:t>
            </a:r>
            <a:r>
              <a:rPr lang="en-US" i="1" dirty="0"/>
              <a:t>Cont’d</a:t>
            </a:r>
            <a:r>
              <a:rPr lang="en-US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178" y="1371600"/>
            <a:ext cx="8670422" cy="53340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3000" i="1" dirty="0">
                <a:solidFill>
                  <a:srgbClr val="C00000"/>
                </a:solidFill>
              </a:rPr>
              <a:t>NoSQL</a:t>
            </a:r>
            <a:r>
              <a:rPr lang="en-US" sz="3000" dirty="0"/>
              <a:t> (or </a:t>
            </a:r>
            <a:r>
              <a:rPr lang="en-US" sz="3000" i="1" dirty="0">
                <a:solidFill>
                  <a:srgbClr val="C00000"/>
                </a:solidFill>
              </a:rPr>
              <a:t>Not-Only-SQL</a:t>
            </a:r>
            <a:r>
              <a:rPr lang="en-US" sz="3000" dirty="0"/>
              <a:t>) databases follow the </a:t>
            </a:r>
            <a:r>
              <a:rPr lang="en-US" sz="3000" i="1" dirty="0">
                <a:solidFill>
                  <a:srgbClr val="C00000"/>
                </a:solidFill>
              </a:rPr>
              <a:t>BASE properties</a:t>
            </a:r>
            <a:r>
              <a:rPr lang="en-US" sz="3000" dirty="0"/>
              <a:t>:</a:t>
            </a:r>
          </a:p>
          <a:p>
            <a:pPr lvl="1">
              <a:buFont typeface="Wingdings" pitchFamily="2" charset="2"/>
              <a:buChar char="§"/>
            </a:pPr>
            <a:r>
              <a:rPr lang="en-US" b="1" u="sng" dirty="0">
                <a:solidFill>
                  <a:srgbClr val="C00000"/>
                </a:solidFill>
              </a:rPr>
              <a:t>B</a:t>
            </a:r>
            <a:r>
              <a:rPr lang="en-US" dirty="0">
                <a:solidFill>
                  <a:srgbClr val="C00000"/>
                </a:solidFill>
              </a:rPr>
              <a:t>asically </a:t>
            </a:r>
            <a:r>
              <a:rPr lang="en-US" b="1" u="sng" dirty="0">
                <a:solidFill>
                  <a:srgbClr val="C00000"/>
                </a:solidFill>
              </a:rPr>
              <a:t>A</a:t>
            </a:r>
            <a:r>
              <a:rPr lang="en-US" dirty="0">
                <a:solidFill>
                  <a:srgbClr val="C00000"/>
                </a:solidFill>
              </a:rPr>
              <a:t>vailable</a:t>
            </a:r>
          </a:p>
          <a:p>
            <a:pPr lvl="1">
              <a:buFont typeface="Wingdings" pitchFamily="2" charset="2"/>
              <a:buChar char="§"/>
            </a:pPr>
            <a:r>
              <a:rPr lang="en-US" b="1" u="sng" dirty="0">
                <a:solidFill>
                  <a:srgbClr val="C00000"/>
                </a:solidFill>
              </a:rPr>
              <a:t>S</a:t>
            </a:r>
            <a:r>
              <a:rPr lang="en-US" dirty="0">
                <a:solidFill>
                  <a:srgbClr val="C00000"/>
                </a:solidFill>
              </a:rPr>
              <a:t>oft-State</a:t>
            </a:r>
          </a:p>
          <a:p>
            <a:pPr lvl="1">
              <a:buFont typeface="Wingdings" pitchFamily="2" charset="2"/>
              <a:buChar char="§"/>
            </a:pPr>
            <a:r>
              <a:rPr lang="en-US" b="1" u="sng" dirty="0">
                <a:solidFill>
                  <a:srgbClr val="C00000"/>
                </a:solidFill>
              </a:rPr>
              <a:t>E</a:t>
            </a:r>
            <a:r>
              <a:rPr lang="en-US" dirty="0">
                <a:solidFill>
                  <a:srgbClr val="C00000"/>
                </a:solidFill>
              </a:rPr>
              <a:t>ventual Consistency</a:t>
            </a:r>
          </a:p>
          <a:p>
            <a:pPr lvl="1">
              <a:buFont typeface="Wingdings" pitchFamily="2" charset="2"/>
              <a:buChar char="§"/>
            </a:pPr>
            <a:endParaRPr lang="en-US" sz="2200" dirty="0"/>
          </a:p>
          <a:p>
            <a:pPr>
              <a:buFont typeface="Wingdings" pitchFamily="2" charset="2"/>
              <a:buChar char="§"/>
            </a:pPr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9882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Adjacency</Template>
  <TotalTime>43845</TotalTime>
  <Words>1888</Words>
  <Application>Microsoft Macintosh PowerPoint</Application>
  <PresentationFormat>On-screen Show (4:3)</PresentationFormat>
  <Paragraphs>325</Paragraphs>
  <Slides>33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7" baseType="lpstr">
      <vt:lpstr>Arial</vt:lpstr>
      <vt:lpstr>Calibri</vt:lpstr>
      <vt:lpstr>Wingdings</vt:lpstr>
      <vt:lpstr>Office Theme</vt:lpstr>
      <vt:lpstr>CAP Theorem</vt:lpstr>
      <vt:lpstr>The CAP Theorem</vt:lpstr>
      <vt:lpstr>The CAP Theorem (Cont’d)</vt:lpstr>
      <vt:lpstr>Large-Scale Databases</vt:lpstr>
      <vt:lpstr>Types of Consistency</vt:lpstr>
      <vt:lpstr>Eventual Consistency Variations</vt:lpstr>
      <vt:lpstr>Eventual Consistency Variations</vt:lpstr>
      <vt:lpstr>Eventual Consistency - A Facebook Example</vt:lpstr>
      <vt:lpstr>Eventual Consistency - A Facebook Example</vt:lpstr>
      <vt:lpstr>Eventual Consistency - A Facebook Example</vt:lpstr>
      <vt:lpstr>Eventual Consistency - A Dropbox Example</vt:lpstr>
      <vt:lpstr>Eventual Consistency - A Dropbox Example</vt:lpstr>
      <vt:lpstr>Eventual Consistency - A Dropbox Example</vt:lpstr>
      <vt:lpstr>Eventual Consistency - An ATM Example</vt:lpstr>
      <vt:lpstr>Dynamic Tradeoff between C and A</vt:lpstr>
      <vt:lpstr>Heterogeneity: Segmenting C and A</vt:lpstr>
      <vt:lpstr>Partitioning Examples</vt:lpstr>
      <vt:lpstr>What if there are no partitions?</vt:lpstr>
      <vt:lpstr>Trading-Off Consistency</vt:lpstr>
      <vt:lpstr>Trading-Off Consistency</vt:lpstr>
      <vt:lpstr>The BASE Properties</vt:lpstr>
      <vt:lpstr>CAP -&gt; PACELC</vt:lpstr>
      <vt:lpstr>Examples</vt:lpstr>
      <vt:lpstr>Types of NoSQL Databases</vt:lpstr>
      <vt:lpstr>Document Stores</vt:lpstr>
      <vt:lpstr>Types of NoSQL Databases</vt:lpstr>
      <vt:lpstr>Graph Databases</vt:lpstr>
      <vt:lpstr>Types of NoSQL Databases</vt:lpstr>
      <vt:lpstr>Key-Value Stores</vt:lpstr>
      <vt:lpstr>Types of NoSQL Databases</vt:lpstr>
      <vt:lpstr>Columnar Databases</vt:lpstr>
      <vt:lpstr>Summary</vt:lpstr>
      <vt:lpstr>Summary (Cont’d)</vt:lpstr>
    </vt:vector>
  </TitlesOfParts>
  <Company>Carnegie Mellon University in Qatar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Dania Abed Rabbou</dc:creator>
  <cp:lastModifiedBy>Farhana Choudhury</cp:lastModifiedBy>
  <cp:revision>3910</cp:revision>
  <dcterms:created xsi:type="dcterms:W3CDTF">2013-11-24T06:45:02Z</dcterms:created>
  <dcterms:modified xsi:type="dcterms:W3CDTF">2023-06-25T12:35:10Z</dcterms:modified>
</cp:coreProperties>
</file>